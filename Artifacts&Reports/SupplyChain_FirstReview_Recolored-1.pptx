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23D3F5-A7BE-46E0-AC27-0D6DC3A2ABB4}">
  <a:tblStyle styleId="{2D23D3F5-A7BE-46E0-AC27-0D6DC3A2ABB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D4E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8961120" y="-731520"/>
            <a:ext cx="4114800" cy="4114800"/>
          </a:xfrm>
          <a:prstGeom prst="ellipse">
            <a:avLst/>
          </a:prstGeom>
          <a:solidFill>
            <a:srgbClr val="1E2D4E">
              <a:alpha val="70196"/>
            </a:srgbClr>
          </a:solidFill>
          <a:ln cap="flat" cmpd="sng" w="12700">
            <a:solidFill>
              <a:srgbClr val="1E2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1E2D4E">
              <a:alpha val="30196"/>
            </a:srgbClr>
          </a:solidFill>
          <a:ln cap="flat" cmpd="sng" w="12700">
            <a:solidFill>
              <a:srgbClr val="1E2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640080" y="411480"/>
            <a:ext cx="2560320" cy="347472"/>
          </a:xfrm>
          <a:prstGeom prst="roundRect">
            <a:avLst>
              <a:gd fmla="val 13158" name="adj"/>
            </a:avLst>
          </a:prstGeom>
          <a:solidFill>
            <a:srgbClr val="1E2D4E"/>
          </a:solidFill>
          <a:ln cap="flat" cmpd="sng" w="12700">
            <a:solidFill>
              <a:srgbClr val="1E2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640080" y="41148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 REVIEW • APRIL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640080" y="9601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AI-Powered Supply Chain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640080" y="16916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00C4B4"/>
                </a:solidFill>
                <a:latin typeface="Calibri"/>
                <a:ea typeface="Calibri"/>
                <a:cs typeface="Calibri"/>
                <a:sym typeface="Calibri"/>
              </a:rPr>
              <a:t>Intelligence Platform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640080" y="2606040"/>
            <a:ext cx="7772400" cy="73152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FB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A7FB5"/>
                </a:solidFill>
                <a:latin typeface="Calibri"/>
                <a:ea typeface="Calibri"/>
                <a:cs typeface="Calibri"/>
                <a:sym typeface="Calibri"/>
              </a:rPr>
              <a:t>Leveraging Machine Learning &amp; Large Language Models to Predict,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FB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A7FB5"/>
                </a:solidFill>
                <a:latin typeface="Calibri"/>
                <a:ea typeface="Calibri"/>
                <a:cs typeface="Calibri"/>
                <a:sym typeface="Calibri"/>
              </a:rPr>
              <a:t>Optimize &amp; Intelligently Manage Supply Chains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640080" y="3520440"/>
            <a:ext cx="5029200" cy="141732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E2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868680" y="3611880"/>
            <a:ext cx="4663440" cy="1234440"/>
          </a:xfrm>
          <a:prstGeom prst="rect">
            <a:avLst/>
          </a:prstGeom>
          <a:solidFill>
            <a:srgbClr val="3D6B9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C4B4"/>
                </a:solidFill>
                <a:latin typeface="Calibri"/>
                <a:ea typeface="Calibri"/>
                <a:cs typeface="Calibri"/>
                <a:sym typeface="Calibri"/>
              </a:rPr>
              <a:t xml:space="preserve">Student: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Shilpi Sen  |  Reg. No: 24EMDT1277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C4B4"/>
                </a:solidFill>
                <a:latin typeface="Calibri"/>
                <a:ea typeface="Calibri"/>
                <a:cs typeface="Calibri"/>
                <a:sym typeface="Calibri"/>
              </a:rPr>
              <a:t xml:space="preserve">Guide: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Dr. Ramesh Kumar 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C4B4"/>
                </a:solidFill>
                <a:latin typeface="Calibri"/>
                <a:ea typeface="Calibri"/>
                <a:cs typeface="Calibri"/>
                <a:sym typeface="Calibri"/>
              </a:rPr>
              <a:t xml:space="preserve">Dept: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M.Sc. Data Science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C4B4"/>
                </a:solidFill>
                <a:latin typeface="Calibri"/>
                <a:ea typeface="Calibri"/>
                <a:cs typeface="Calibri"/>
                <a:sym typeface="Calibri"/>
              </a:rPr>
              <a:t xml:space="preserve">Review: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 Review — Project Work (20 Marks)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640080" y="5303520"/>
            <a:ext cx="502920" cy="502920"/>
          </a:xfrm>
          <a:prstGeom prst="ellipse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5340096"/>
            <a:ext cx="429768" cy="42976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>
            <a:off x="457225" y="5852160"/>
            <a:ext cx="868800" cy="274200"/>
          </a:xfrm>
          <a:prstGeom prst="rect">
            <a:avLst/>
          </a:prstGeom>
          <a:solidFill>
            <a:srgbClr val="1E2D4E"/>
          </a:solidFill>
          <a:ln cap="flat" cmpd="sng" w="2857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FB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Models</a:t>
            </a:r>
            <a:endParaRPr b="0" i="0" sz="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212848" y="5303520"/>
            <a:ext cx="502920" cy="502920"/>
          </a:xfrm>
          <a:prstGeom prst="ellipse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9424" y="5340096"/>
            <a:ext cx="429768" cy="42976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/>
          <p:nvPr/>
        </p:nvSpPr>
        <p:spPr>
          <a:xfrm>
            <a:off x="2029968" y="5852160"/>
            <a:ext cx="868680" cy="274320"/>
          </a:xfrm>
          <a:prstGeom prst="rect">
            <a:avLst/>
          </a:prstGeom>
          <a:solidFill>
            <a:srgbClr val="1E2D4E"/>
          </a:solidFill>
          <a:ln cap="flat" cmpd="sng" w="2857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FB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Forecasting</a:t>
            </a:r>
            <a:endParaRPr b="0" i="0" sz="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3785616" y="5303520"/>
            <a:ext cx="502920" cy="502920"/>
          </a:xfrm>
          <a:prstGeom prst="ellipse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22192" y="5340096"/>
            <a:ext cx="429768" cy="42976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/>
          <p:nvPr/>
        </p:nvSpPr>
        <p:spPr>
          <a:xfrm>
            <a:off x="3602736" y="5852160"/>
            <a:ext cx="868680" cy="274320"/>
          </a:xfrm>
          <a:prstGeom prst="rect">
            <a:avLst/>
          </a:prstGeom>
          <a:solidFill>
            <a:srgbClr val="1E2D4E"/>
          </a:solidFill>
          <a:ln cap="flat" cmpd="sng" w="2857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FB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Assistant</a:t>
            </a:r>
            <a:endParaRPr b="0" i="0" sz="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5358384" y="5303520"/>
            <a:ext cx="502920" cy="502920"/>
          </a:xfrm>
          <a:prstGeom prst="ellipse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94960" y="5340096"/>
            <a:ext cx="429768" cy="42976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/>
          <p:nvPr/>
        </p:nvSpPr>
        <p:spPr>
          <a:xfrm>
            <a:off x="5175504" y="5852160"/>
            <a:ext cx="868680" cy="274320"/>
          </a:xfrm>
          <a:prstGeom prst="rect">
            <a:avLst/>
          </a:prstGeom>
          <a:solidFill>
            <a:srgbClr val="1E2D4E"/>
          </a:solidFill>
          <a:ln cap="flat" cmpd="sng" w="2857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FB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6931152" y="5303520"/>
            <a:ext cx="502920" cy="502920"/>
          </a:xfrm>
          <a:prstGeom prst="ellipse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67728" y="5340096"/>
            <a:ext cx="429768" cy="42976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/>
          <p:nvPr/>
        </p:nvSpPr>
        <p:spPr>
          <a:xfrm>
            <a:off x="6748272" y="5852160"/>
            <a:ext cx="868680" cy="274320"/>
          </a:xfrm>
          <a:prstGeom prst="rect">
            <a:avLst/>
          </a:prstGeom>
          <a:solidFill>
            <a:srgbClr val="1E2D4E"/>
          </a:solidFill>
          <a:ln cap="flat" cmpd="sng" w="28575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FB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Anomaly Detect</a:t>
            </a:r>
            <a:endParaRPr b="0" i="0" sz="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01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D4E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0" y="658368"/>
            <a:ext cx="12161520" cy="50292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164592" y="73152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6858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Recap: Problem Statement &amp; Objectives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Zeroth Review Summary →  First Review Foundation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11064240" y="2011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02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365760" y="914400"/>
            <a:ext cx="5394960" cy="2194560"/>
          </a:xfrm>
          <a:prstGeom prst="rect">
            <a:avLst/>
          </a:prstGeom>
          <a:solidFill>
            <a:srgbClr val="2E4A7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365760" y="914400"/>
            <a:ext cx="64008" cy="21945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548640" y="1143000"/>
            <a:ext cx="566928" cy="5669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" y="1179576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1234440" y="1115568"/>
            <a:ext cx="4297680" cy="3474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No Predictive Visibility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1234440" y="1508760"/>
            <a:ext cx="4297680" cy="141732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Businesses react to disruptions after they occur — stockouts &amp; demand spikes cause massive losses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6126480" y="914400"/>
            <a:ext cx="539496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6126480" y="914400"/>
            <a:ext cx="64008" cy="219456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6309360" y="1143000"/>
            <a:ext cx="566928" cy="566928"/>
          </a:xfrm>
          <a:prstGeom prst="ellipse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5936" y="1179576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6995160" y="1115568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Data Silos &amp; Fragmentation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995160" y="1508760"/>
            <a:ext cx="42976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Orders, shipments &amp; inventory exist in disconnected systems with no unified intelligence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365760" y="3383280"/>
            <a:ext cx="539496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365760" y="3383280"/>
            <a:ext cx="64008" cy="2194560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48640" y="3611880"/>
            <a:ext cx="566928" cy="566928"/>
          </a:xfrm>
          <a:prstGeom prst="ellipse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216" y="3648456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1234440" y="3584448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Manual Decision Making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1234440" y="3977640"/>
            <a:ext cx="42976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Operations teams rely on spreadsheets &amp; manual analysis — slow decisions prone to human error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6126480" y="3383280"/>
            <a:ext cx="539496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6126480" y="3383280"/>
            <a:ext cx="64008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6309360" y="3611880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5936" y="3648456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/>
          <p:nvPr/>
        </p:nvSpPr>
        <p:spPr>
          <a:xfrm>
            <a:off x="6995160" y="3584448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Lack of Actionable Insights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995160" y="3977640"/>
            <a:ext cx="42976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No AI layer to interpret data, explain root causes, or suggest optimized operational actions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D4E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0" y="658368"/>
            <a:ext cx="12161520" cy="50292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164592" y="73152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858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 Review — ML &amp; Forecasting in Supply Chains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ABDC / Scopus-indexed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11064240" y="2011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03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320040" y="868680"/>
            <a:ext cx="11521440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320040" y="868680"/>
            <a:ext cx="64008" cy="1298448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457200" y="1124712"/>
            <a:ext cx="457200" cy="457200"/>
          </a:xfrm>
          <a:prstGeom prst="ellipse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457200" y="11247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1051560" y="9601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750"/>
              <a:buFont typeface="Calibri"/>
              <a:buNone/>
            </a:pPr>
            <a:r>
              <a:rPr b="1" i="1" lang="en-US" sz="75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Journal of Business Logistics (ABDC-A)  •  2023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1051560" y="1188720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Machine Learning for Supply Chain Disruption Prediction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1051560" y="14630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Authors: Zhang et 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1051560" y="1673352"/>
            <a:ext cx="10241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Key Finding: XGBoost &amp; LSTM models achieve 87% accuracy in predicting supply disruptions; deep learning outperforms traditional statistical models for non-linear demand patterns.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20040" y="2313432"/>
            <a:ext cx="11521440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20040" y="2313432"/>
            <a:ext cx="64008" cy="1298448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457200" y="2569464"/>
            <a:ext cx="457200" cy="457200"/>
          </a:xfrm>
          <a:prstGeom prst="ellipse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457200" y="25694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1051560" y="240487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750"/>
              <a:buFont typeface="Calibri"/>
              <a:buNone/>
            </a:pPr>
            <a:r>
              <a:rPr b="1" i="1" lang="en-US" sz="75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Int. J. of Production Economics (Scopus Q1)  •  2022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1051560" y="2633472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Deep Learning Approaches for Demand Forecasting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1051560" y="290779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Authors: Chen &amp; Kumar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1051560" y="3118104"/>
            <a:ext cx="10241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Key Finding: LSTM networks reduce MAPE by 34% over ARIMA for SKU-level demand forecasting across multi-echelon supply chains; seasonal patterns captured effectively.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20040" y="3758184"/>
            <a:ext cx="11521440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320040" y="3758184"/>
            <a:ext cx="64008" cy="1298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457200" y="4014216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457200" y="40142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1051560" y="384962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b="1" i="1" lang="en-US" sz="7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Expert Systems with Applications (Scopus Q1)  •  2023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1051560" y="4078224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Anomaly Detection in Logistics using Isolation Forest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1051560" y="435254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Authors: Patel et 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1051560" y="4562856"/>
            <a:ext cx="10241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Key Finding: Isolation Forest achieves 91% recall in detecting shipment delays &amp; inventory anomalies; real-time scoring feasible with &lt;50ms latency per event.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320040" y="5202936"/>
            <a:ext cx="11521440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320040" y="5202936"/>
            <a:ext cx="64008" cy="12984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457200" y="5458968"/>
            <a:ext cx="457200" cy="4572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457200" y="5458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1051560" y="5294376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750"/>
              <a:buFont typeface="Calibri"/>
              <a:buNone/>
            </a:pPr>
            <a:r>
              <a:rPr b="1" i="1" lang="en-US" sz="75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Supply Chain Mgmt: An Intl. Journal (ABDC-A)  •  2024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1051560" y="5522976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AI-Driven Inventory Optimization: A Systematic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1051560" y="579729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Authors: Gupta &amp; Singh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1051560" y="6007608"/>
            <a:ext cx="10241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Key Finding: Review of 67 studies confirms hybrid ML approaches (ensemble + deep learning) consistently outperform single-model baselines for inventory optimization tasks.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D4E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0" y="658368"/>
            <a:ext cx="12161520" cy="50292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164592" y="73152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6858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 Review — LLMs &amp; AI Assistants in Operations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Emerging research: NLP + Decision Intelligence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11064240" y="2011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04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320040" y="914400"/>
            <a:ext cx="11521440" cy="13350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320040" y="914400"/>
            <a:ext cx="64008" cy="1335024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1051560" y="10058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750"/>
              <a:buFont typeface="Calibri"/>
              <a:buNone/>
            </a:pPr>
            <a:r>
              <a:rPr b="1" i="1" lang="en-US" sz="75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Decision Support Systems (Scopus Q1)  •  2024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1051560" y="124358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GPT-based Decision Support for Operations Management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1051560" y="151790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Authors: Liu et 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51560" y="1737360"/>
            <a:ext cx="10241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Key Finding: LLM-powered decision assistants reduce analyst decision time by 41%; natural language interfaces improve interpretability of ML predictions significantly.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320040" y="2395728"/>
            <a:ext cx="11521440" cy="13350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320040" y="2395728"/>
            <a:ext cx="64008" cy="1335024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457200" y="2670048"/>
            <a:ext cx="457200" cy="457200"/>
          </a:xfrm>
          <a:prstGeom prst="ellipse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457200" y="2670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1051560" y="2487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750"/>
              <a:buFont typeface="Calibri"/>
              <a:buNone/>
            </a:pPr>
            <a:r>
              <a:rPr b="1" i="1" lang="en-US" sz="75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Computers &amp; Industrial Engineering (Scopus Q1)  •  2023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1051560" y="272491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RAG-Enhanced Chatbots for Manufacturing Intelligence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1051560" y="299923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Authors: Sharma &amp; Lee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1051560" y="3218688"/>
            <a:ext cx="10241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Key Finding: Retrieval-Augmented Generation (RAG) over domain corpora improves factual accuracy of LLM responses to operations queries from 61% to 89%.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320040" y="3877056"/>
            <a:ext cx="11521440" cy="13350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320040" y="3877056"/>
            <a:ext cx="64008" cy="133502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457200" y="4151376"/>
            <a:ext cx="457200" cy="4572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"/>
          <p:cNvSpPr/>
          <p:nvPr/>
        </p:nvSpPr>
        <p:spPr>
          <a:xfrm>
            <a:off x="457200" y="41513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1051560" y="396849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750"/>
              <a:buFont typeface="Calibri"/>
              <a:buNone/>
            </a:pPr>
            <a:r>
              <a:rPr b="1" i="1" lang="en-US" sz="75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Int. J. of Information Management (ABDC-A)  •  2024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1051560" y="42062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Prompt Engineering for Business Analytics Applications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1051560" y="44805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Authors: Verma et 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1051560" y="4700016"/>
            <a:ext cx="10241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Key Finding: Structured prompt templates with chain-of-thought reasoning outperform zero-shot prompts by 28% on business analytics interpretation benchmarks.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320040" y="5440680"/>
            <a:ext cx="11521440" cy="1097280"/>
          </a:xfrm>
          <a:prstGeom prst="rect">
            <a:avLst/>
          </a:prstGeom>
          <a:solidFill>
            <a:srgbClr val="2E4A7A"/>
          </a:solidFill>
          <a:ln cap="flat" cmpd="sng" w="12700">
            <a:solidFill>
              <a:srgbClr val="1E2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502920" y="550468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🔍  Research Gap Identified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502920" y="583387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Existing literature addresses either ML forecasting OR LLM-based interfaces separately. No unified end-to-end platform combining real-time ML predictions, LLM explanation layer, anomaly detection, and interactive dashboards has been proposed for supply chain intelligence — this is the gap this project addresses.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D4E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0" y="658368"/>
            <a:ext cx="12161520" cy="50292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164592" y="73152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858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Conceptual Framework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Theoretical model underpinning the AI-Powered Supply Chain Intelligence Platform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11064240" y="2011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05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1371600" y="841248"/>
            <a:ext cx="8686800" cy="914400"/>
          </a:xfrm>
          <a:prstGeom prst="rect">
            <a:avLst/>
          </a:prstGeom>
          <a:solidFill>
            <a:srgbClr val="2E4A7A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1554480" y="1014984"/>
            <a:ext cx="566928" cy="566928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1056" y="1051560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/>
          <p:nvPr/>
        </p:nvSpPr>
        <p:spPr>
          <a:xfrm>
            <a:off x="2286000" y="93268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2286000" y="1316736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Orders • Shipments • Inventory • External APIs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9829800" y="1060704"/>
            <a:ext cx="475488" cy="475488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9829800" y="106070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5577840" y="1755648"/>
            <a:ext cx="109728" cy="109728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5212080" y="1764792"/>
            <a:ext cx="8229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1371600" y="1938528"/>
            <a:ext cx="8686800" cy="914400"/>
          </a:xfrm>
          <a:prstGeom prst="rect">
            <a:avLst/>
          </a:prstGeom>
          <a:solidFill>
            <a:srgbClr val="1E2D4E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1554480" y="2112264"/>
            <a:ext cx="566928" cy="566928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" name="Google Shape;22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1056" y="2148840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/>
          <p:nvPr/>
        </p:nvSpPr>
        <p:spPr>
          <a:xfrm>
            <a:off x="2286000" y="202996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2286000" y="2414016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ARIMA • LSTM • XGBoost • Isolation Forest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9829800" y="2157984"/>
            <a:ext cx="475488" cy="475488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9829800" y="21579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5577840" y="2852928"/>
            <a:ext cx="109728" cy="109728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5212080" y="2862072"/>
            <a:ext cx="8229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1371600" y="3035808"/>
            <a:ext cx="8686800" cy="914400"/>
          </a:xfrm>
          <a:prstGeom prst="rect">
            <a:avLst/>
          </a:prstGeom>
          <a:solidFill>
            <a:srgbClr val="1E2D4E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1554480" y="3209544"/>
            <a:ext cx="566928" cy="566928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3" name="Google Shape;23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91056" y="3246120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8"/>
          <p:cNvSpPr/>
          <p:nvPr/>
        </p:nvSpPr>
        <p:spPr>
          <a:xfrm>
            <a:off x="2286000" y="312724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/ AI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2286000" y="3511296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Claude API • Prompt Engineering • RAG Pipeline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9829800" y="3255264"/>
            <a:ext cx="475488" cy="475488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9829800" y="325526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5577840" y="3950208"/>
            <a:ext cx="109728" cy="109728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5212080" y="3959352"/>
            <a:ext cx="8229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1371600" y="4133088"/>
            <a:ext cx="868680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1554480" y="4306824"/>
            <a:ext cx="566928" cy="566928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91056" y="4343400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8"/>
          <p:cNvSpPr/>
          <p:nvPr/>
        </p:nvSpPr>
        <p:spPr>
          <a:xfrm>
            <a:off x="2286000" y="422452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2286000" y="4608576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React 18 • Recharts • Real-Time WebSocket Feed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9829800" y="4352544"/>
            <a:ext cx="475488" cy="475488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9829800" y="435254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10378440" y="868680"/>
            <a:ext cx="109728" cy="42062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10287000" y="2743200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Feedback Loop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1371600" y="5230368"/>
            <a:ext cx="8686800" cy="822960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1E2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1463040" y="5285232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OUTCOMES: 85%+ Forecast Accuracy  •  30% Inventory Waste Reduction  •  2× Faster Decisions  •  Real-Time AI Insights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D4E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0" y="658368"/>
            <a:ext cx="12161520" cy="50292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164592" y="73152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6858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Exploratory Data Analysis — Demand Trends &amp; Anomalies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Weekly demand patterns, seasonality &amp; outlier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11064240" y="2011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06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822960"/>
            <a:ext cx="795528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9"/>
          <p:cNvSpPr/>
          <p:nvPr/>
        </p:nvSpPr>
        <p:spPr>
          <a:xfrm>
            <a:off x="8458200" y="841248"/>
            <a:ext cx="338328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8458200" y="841248"/>
            <a:ext cx="64008" cy="1737360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5" name="Google Shape;2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5360" y="97840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9"/>
          <p:cNvSpPr/>
          <p:nvPr/>
        </p:nvSpPr>
        <p:spPr>
          <a:xfrm>
            <a:off x="9098280" y="950976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Seasonality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8595360" y="1344168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Clear seasonal peaks in Q2 &amp; Q4 — holiday and procurement cycles detected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8458200" y="2779776"/>
            <a:ext cx="338328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8458200" y="2779776"/>
            <a:ext cx="64008" cy="17373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5360" y="2916936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9"/>
          <p:cNvSpPr/>
          <p:nvPr/>
        </p:nvSpPr>
        <p:spPr>
          <a:xfrm>
            <a:off x="9098280" y="2889504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Anomalies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8595360" y="3282696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4 major demand spikes (⚠) flagged for root-cause investigation via ML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8458200" y="4718304"/>
            <a:ext cx="338328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"/>
          <p:cNvSpPr/>
          <p:nvPr/>
        </p:nvSpPr>
        <p:spPr>
          <a:xfrm>
            <a:off x="8458200" y="4718304"/>
            <a:ext cx="64008" cy="173736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95360" y="4855464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9"/>
          <p:cNvSpPr/>
          <p:nvPr/>
        </p:nvSpPr>
        <p:spPr>
          <a:xfrm>
            <a:off x="9098280" y="4828032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Trend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8595360" y="5221224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Overall upward trend: ~35% demand growth over 52-week observation period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8" name="Google Shape;27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0040" y="4407408"/>
            <a:ext cx="795528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D4E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0"/>
          <p:cNvSpPr/>
          <p:nvPr/>
        </p:nvSpPr>
        <p:spPr>
          <a:xfrm>
            <a:off x="0" y="658368"/>
            <a:ext cx="12161520" cy="50292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0"/>
          <p:cNvSpPr/>
          <p:nvPr/>
        </p:nvSpPr>
        <p:spPr>
          <a:xfrm>
            <a:off x="164592" y="73152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6858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Models — Demand Forecasting Results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ARIMA vs LSTM vs Actual Demand  |  12-month dataset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11064240" y="2011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07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0" name="Google Shape;2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804672"/>
            <a:ext cx="77724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1" name="Google Shape;2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4572000"/>
            <a:ext cx="7772400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0"/>
          <p:cNvSpPr/>
          <p:nvPr/>
        </p:nvSpPr>
        <p:spPr>
          <a:xfrm>
            <a:off x="8321040" y="868680"/>
            <a:ext cx="3520440" cy="1298448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0"/>
          <p:cNvSpPr/>
          <p:nvPr/>
        </p:nvSpPr>
        <p:spPr>
          <a:xfrm>
            <a:off x="8412480" y="97840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ARIMA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8412480" y="128930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MAPE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8412480" y="15544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7.8%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8321040" y="2331720"/>
            <a:ext cx="3520440" cy="1298448"/>
          </a:xfrm>
          <a:prstGeom prst="rect">
            <a:avLst/>
          </a:prstGeom>
          <a:solidFill>
            <a:srgbClr val="1E2D4E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0"/>
          <p:cNvSpPr/>
          <p:nvPr/>
        </p:nvSpPr>
        <p:spPr>
          <a:xfrm>
            <a:off x="8412480" y="24414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8412480" y="275234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MAPE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8412480" y="30175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4.2%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8321040" y="3794760"/>
            <a:ext cx="3520440" cy="1298448"/>
          </a:xfrm>
          <a:prstGeom prst="rect">
            <a:avLst/>
          </a:prstGeom>
          <a:solidFill>
            <a:srgbClr val="2E4A7A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0"/>
          <p:cNvSpPr/>
          <p:nvPr/>
        </p:nvSpPr>
        <p:spPr>
          <a:xfrm>
            <a:off x="8412480" y="390448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8412480" y="421538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MAPE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8412480" y="448056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3.6%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8321040" y="5257800"/>
            <a:ext cx="3520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0"/>
          <p:cNvSpPr/>
          <p:nvPr/>
        </p:nvSpPr>
        <p:spPr>
          <a:xfrm>
            <a:off x="8412480" y="536752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Iso. Forest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8412480" y="567842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8412480" y="594360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92%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D4E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1"/>
          <p:cNvSpPr/>
          <p:nvPr/>
        </p:nvSpPr>
        <p:spPr>
          <a:xfrm>
            <a:off x="0" y="658368"/>
            <a:ext cx="12161520" cy="50292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164592" y="73152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6858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Design &amp; Methodology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Secondary data + analytical research approach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11064240" y="2011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08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320040" y="868680"/>
            <a:ext cx="5760720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1"/>
          <p:cNvSpPr/>
          <p:nvPr/>
        </p:nvSpPr>
        <p:spPr>
          <a:xfrm>
            <a:off x="320040" y="868680"/>
            <a:ext cx="64008" cy="1298448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1"/>
          <p:cNvSpPr/>
          <p:nvPr/>
        </p:nvSpPr>
        <p:spPr>
          <a:xfrm>
            <a:off x="475488" y="1051560"/>
            <a:ext cx="502920" cy="502920"/>
          </a:xfrm>
          <a:prstGeom prst="ellipse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64" y="1088136"/>
            <a:ext cx="429768" cy="429768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1"/>
          <p:cNvSpPr/>
          <p:nvPr/>
        </p:nvSpPr>
        <p:spPr>
          <a:xfrm>
            <a:off x="1097280" y="9601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Research 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1097280" y="12801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Applied &amp; Analytical — Secondary Data Research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using publicly available supply chain datasets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320040" y="2304288"/>
            <a:ext cx="5760720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1"/>
          <p:cNvSpPr/>
          <p:nvPr/>
        </p:nvSpPr>
        <p:spPr>
          <a:xfrm>
            <a:off x="320040" y="2304288"/>
            <a:ext cx="64008" cy="1298448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1"/>
          <p:cNvSpPr/>
          <p:nvPr/>
        </p:nvSpPr>
        <p:spPr>
          <a:xfrm>
            <a:off x="475488" y="2487168"/>
            <a:ext cx="502920" cy="502920"/>
          </a:xfrm>
          <a:prstGeom prst="ellipse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8" name="Google Shape;3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64" y="2523744"/>
            <a:ext cx="429768" cy="42976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1"/>
          <p:cNvSpPr/>
          <p:nvPr/>
        </p:nvSpPr>
        <p:spPr>
          <a:xfrm>
            <a:off x="1097280" y="239572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1097280" y="2715768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Kaggle Supply Chain Dataset (10,000+ records)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Olist E-Commerce Dataset (Brazilian market)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UCI ML Repository — Logistics datasets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320040" y="3739896"/>
            <a:ext cx="5760720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1"/>
          <p:cNvSpPr/>
          <p:nvPr/>
        </p:nvSpPr>
        <p:spPr>
          <a:xfrm>
            <a:off x="320040" y="3739896"/>
            <a:ext cx="64008" cy="1298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475488" y="3922776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4" name="Google Shape;33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64" y="3959352"/>
            <a:ext cx="429768" cy="429768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1"/>
          <p:cNvSpPr/>
          <p:nvPr/>
        </p:nvSpPr>
        <p:spPr>
          <a:xfrm>
            <a:off x="1097280" y="383133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Analytical Method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1097280" y="4151376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Quantitative: ML model training &amp;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Qualitative: LLM output interpretation &amp; validation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320040" y="5175504"/>
            <a:ext cx="5760720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>
            <a:off x="320040" y="5175504"/>
            <a:ext cx="64008" cy="12984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475488" y="5358384"/>
            <a:ext cx="502920" cy="5029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0" name="Google Shape;34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064" y="5394960"/>
            <a:ext cx="429768" cy="429768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1"/>
          <p:cNvSpPr/>
          <p:nvPr/>
        </p:nvSpPr>
        <p:spPr>
          <a:xfrm>
            <a:off x="1097280" y="5266944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Sampling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1097280" y="5586984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Full dataset for training (80/20 train-test split)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Time-series cross-validation (walk-forward method)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6355080" y="841248"/>
            <a:ext cx="5440680" cy="5138928"/>
          </a:xfrm>
          <a:prstGeom prst="rect">
            <a:avLst/>
          </a:prstGeom>
          <a:solidFill>
            <a:srgbClr val="2E4A7A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6492240" y="91440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Tools &amp; Technologies Identified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6492240" y="1389888"/>
            <a:ext cx="5120640" cy="68580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1E2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6583680" y="1426464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Data &amp; Backend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6583680" y="166420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3.11 • Pandas • NumPy • FastAPI • PostgreSQL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6492240" y="2167128"/>
            <a:ext cx="5120640" cy="68580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1E2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6583680" y="2203704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6583680" y="244144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Scikit-learn • TensorFlow/Keras • XGBoost • Statsmodels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6492240" y="2944368"/>
            <a:ext cx="5120640" cy="68580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1E2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1"/>
          <p:cNvSpPr/>
          <p:nvPr/>
        </p:nvSpPr>
        <p:spPr>
          <a:xfrm>
            <a:off x="6583680" y="2980944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AI / LLM Layer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6583680" y="321868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Anthropic Claude API • LangChain • Prompt Engineering • RAG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6492240" y="3721608"/>
            <a:ext cx="5120640" cy="68580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1E2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1"/>
          <p:cNvSpPr/>
          <p:nvPr/>
        </p:nvSpPr>
        <p:spPr>
          <a:xfrm>
            <a:off x="6583680" y="3758184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6583680" y="399592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18 • TypeScript • Recharts • D3.js • Tailwind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6492240" y="4498848"/>
            <a:ext cx="5120640" cy="68580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1E2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1"/>
          <p:cNvSpPr/>
          <p:nvPr/>
        </p:nvSpPr>
        <p:spPr>
          <a:xfrm>
            <a:off x="6583680" y="4535424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6583680" y="477316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RMSE • MAPE • MAE • F1-Score • Recall • Precision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6492240" y="5276088"/>
            <a:ext cx="5120640" cy="68580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1E2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1"/>
          <p:cNvSpPr/>
          <p:nvPr/>
        </p:nvSpPr>
        <p:spPr>
          <a:xfrm>
            <a:off x="6583680" y="5312664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DevOps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6583680" y="555040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• GitHub Actions CI/CD • AWS / GCP • Jupyter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D4E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2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2"/>
          <p:cNvSpPr/>
          <p:nvPr/>
        </p:nvSpPr>
        <p:spPr>
          <a:xfrm>
            <a:off x="0" y="658368"/>
            <a:ext cx="12161520" cy="50292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2"/>
          <p:cNvSpPr/>
          <p:nvPr/>
        </p:nvSpPr>
        <p:spPr>
          <a:xfrm>
            <a:off x="164592" y="73152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6858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Milestones &amp; Timeline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15-week structured roadmap aligned with review schedule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11064240" y="2011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09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4" name="Google Shape;3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804672"/>
            <a:ext cx="1147572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2"/>
          <p:cNvSpPr/>
          <p:nvPr/>
        </p:nvSpPr>
        <p:spPr>
          <a:xfrm>
            <a:off x="320040" y="4709160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2D4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2"/>
          <p:cNvSpPr/>
          <p:nvPr/>
        </p:nvSpPr>
        <p:spPr>
          <a:xfrm>
            <a:off x="320040" y="4709160"/>
            <a:ext cx="2743200" cy="347472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2"/>
          <p:cNvSpPr/>
          <p:nvPr/>
        </p:nvSpPr>
        <p:spPr>
          <a:xfrm>
            <a:off x="411480" y="472744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Zeroth Review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411480" y="513892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Mar 27–29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411480" y="53949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✓ Completed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411480" y="5687568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Proposal submitted &amp; approved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3218688" y="4709160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2"/>
          <p:cNvSpPr/>
          <p:nvPr/>
        </p:nvSpPr>
        <p:spPr>
          <a:xfrm>
            <a:off x="3218688" y="4709160"/>
            <a:ext cx="27432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2"/>
          <p:cNvSpPr/>
          <p:nvPr/>
        </p:nvSpPr>
        <p:spPr>
          <a:xfrm>
            <a:off x="3310128" y="472744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 Review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3310128" y="513892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Apr 25–27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3310128" y="53949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◉ Current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3310128" y="5687568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Lit. review, EDA &amp; design plan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6117336" y="4709160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4A7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6117336" y="4709160"/>
            <a:ext cx="2743200" cy="347472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6208776" y="472744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 Review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6208776" y="513892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May 29–31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6208776" y="53949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Upcoming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6208776" y="5687568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ML models trained &amp; evaluated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9015984" y="4709160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2"/>
          <p:cNvSpPr/>
          <p:nvPr/>
        </p:nvSpPr>
        <p:spPr>
          <a:xfrm>
            <a:off x="9015984" y="4709160"/>
            <a:ext cx="2743200" cy="3474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2"/>
          <p:cNvSpPr/>
          <p:nvPr/>
        </p:nvSpPr>
        <p:spPr>
          <a:xfrm>
            <a:off x="9107424" y="472744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Viva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9107424" y="513892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Jul 03–05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9107424" y="53949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Upcoming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9107424" y="5687568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Complete system demo &amp; report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D4E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3"/>
          <p:cNvSpPr/>
          <p:nvPr/>
        </p:nvSpPr>
        <p:spPr>
          <a:xfrm>
            <a:off x="0" y="658368"/>
            <a:ext cx="12161520" cy="50292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3"/>
          <p:cNvSpPr/>
          <p:nvPr/>
        </p:nvSpPr>
        <p:spPr>
          <a:xfrm>
            <a:off x="164592" y="73152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6858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Sources, Sampling Plan &amp; Progress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Secondary data collection — current status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11064240" y="2011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0" name="Google Shape;410;p23"/>
          <p:cNvGraphicFramePr/>
          <p:nvPr/>
        </p:nvGraphicFramePr>
        <p:xfrm>
          <a:off x="32004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{2D23D3F5-A7BE-46E0-AC27-0D6DC3A2ABB4}</a:tableStyleId>
              </a:tblPr>
              <a:tblGrid>
                <a:gridCol w="4572000"/>
                <a:gridCol w="1828800"/>
                <a:gridCol w="2286000"/>
                <a:gridCol w="274320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Dataset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A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Records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A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Features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A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Status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A7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E3C"/>
                          </a:solidFill>
                        </a:rPr>
                        <a:t>Kaggle Supply Chain Dataset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E3C"/>
                          </a:solidFill>
                        </a:rPr>
                        <a:t>10,322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E3C"/>
                          </a:solidFill>
                        </a:rPr>
                        <a:t>52 attributes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D4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D4E"/>
                          </a:solidFill>
                        </a:rPr>
                        <a:t>✓ Acquired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E3C"/>
                          </a:solidFill>
                        </a:rPr>
                        <a:t>Olist E-Commerce (Kaggle)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E3C"/>
                          </a:solidFill>
                        </a:rPr>
                        <a:t>112,650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E3C"/>
                          </a:solidFill>
                        </a:rPr>
                        <a:t>11 tables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D4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D4E"/>
                          </a:solidFill>
                        </a:rPr>
                        <a:t>✓ Acquired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E3C"/>
                          </a:solidFill>
                        </a:rPr>
                        <a:t>UCI ML Logistics Dataset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E3C"/>
                          </a:solidFill>
                        </a:rPr>
                        <a:t>4,800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E3C"/>
                          </a:solidFill>
                        </a:rPr>
                        <a:t>24 attributes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D4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D4E"/>
                          </a:solidFill>
                        </a:rPr>
                        <a:t>✓ Acquired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E3C"/>
                          </a:solidFill>
                        </a:rPr>
                        <a:t>Synthetic Anomaly Data (gen.)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E3C"/>
                          </a:solidFill>
                        </a:rPr>
                        <a:t>5,000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E3C"/>
                          </a:solidFill>
                        </a:rPr>
                        <a:t>18 attributes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E3C"/>
                          </a:solidFill>
                        </a:rPr>
                        <a:t>◉ In Progress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411" name="Google Shape;411;p23"/>
          <p:cNvSpPr/>
          <p:nvPr/>
        </p:nvSpPr>
        <p:spPr>
          <a:xfrm>
            <a:off x="320040" y="36118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Work Completed So Far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320040" y="404164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Data Collection &amp; Cleaning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4480560" y="4041648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85%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320040" y="4315968"/>
            <a:ext cx="48463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320040" y="4315968"/>
            <a:ext cx="4119372" cy="201168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3"/>
          <p:cNvSpPr/>
          <p:nvPr/>
        </p:nvSpPr>
        <p:spPr>
          <a:xfrm>
            <a:off x="320040" y="472744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4480560" y="4727448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320040" y="5001768"/>
            <a:ext cx="48463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3"/>
          <p:cNvSpPr/>
          <p:nvPr/>
        </p:nvSpPr>
        <p:spPr>
          <a:xfrm>
            <a:off x="320040" y="5001768"/>
            <a:ext cx="1938528" cy="201168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3"/>
          <p:cNvSpPr/>
          <p:nvPr/>
        </p:nvSpPr>
        <p:spPr>
          <a:xfrm>
            <a:off x="320040" y="541324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4480560" y="5413248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75%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320040" y="5687568"/>
            <a:ext cx="48463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3"/>
          <p:cNvSpPr/>
          <p:nvPr/>
        </p:nvSpPr>
        <p:spPr>
          <a:xfrm>
            <a:off x="320040" y="5687568"/>
            <a:ext cx="363474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3"/>
          <p:cNvSpPr/>
          <p:nvPr/>
        </p:nvSpPr>
        <p:spPr>
          <a:xfrm>
            <a:off x="320040" y="609904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E3C"/>
                </a:solidFill>
                <a:latin typeface="Calibri"/>
                <a:ea typeface="Calibri"/>
                <a:cs typeface="Calibri"/>
                <a:sym typeface="Calibri"/>
              </a:rPr>
              <a:t>Model Prototyping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4480560" y="6099048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320040" y="6373368"/>
            <a:ext cx="48463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3"/>
          <p:cNvSpPr/>
          <p:nvPr/>
        </p:nvSpPr>
        <p:spPr>
          <a:xfrm>
            <a:off x="320040" y="6373368"/>
            <a:ext cx="969264" cy="2011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3"/>
          <p:cNvSpPr/>
          <p:nvPr/>
        </p:nvSpPr>
        <p:spPr>
          <a:xfrm>
            <a:off x="6263640" y="3547872"/>
            <a:ext cx="5577840" cy="3063240"/>
          </a:xfrm>
          <a:prstGeom prst="rect">
            <a:avLst/>
          </a:prstGeom>
          <a:solidFill>
            <a:srgbClr val="2E4A7A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3"/>
          <p:cNvSpPr/>
          <p:nvPr/>
        </p:nvSpPr>
        <p:spPr>
          <a:xfrm>
            <a:off x="6400800" y="3639312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EDA Activities Planned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3"/>
          <p:cNvSpPr/>
          <p:nvPr/>
        </p:nvSpPr>
        <p:spPr>
          <a:xfrm>
            <a:off x="6492240" y="4041648"/>
            <a:ext cx="5166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 xml:space="preserve">▸  </a:t>
            </a:r>
            <a:r>
              <a:rPr b="0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Univariate &amp; multivariate demand distribution analysis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3"/>
          <p:cNvSpPr/>
          <p:nvPr/>
        </p:nvSpPr>
        <p:spPr>
          <a:xfrm>
            <a:off x="6492240" y="4462272"/>
            <a:ext cx="5166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 xml:space="preserve">▸  </a:t>
            </a:r>
            <a:r>
              <a:rPr b="0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Seasonal decomposition (STL) for trend, seasonality, residuals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/>
          <p:nvPr/>
        </p:nvSpPr>
        <p:spPr>
          <a:xfrm>
            <a:off x="6492240" y="4882896"/>
            <a:ext cx="5166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 xml:space="preserve">▸  </a:t>
            </a:r>
            <a:r>
              <a:rPr b="0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Correlation heatmap — product category vs. lead time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6492240" y="5303520"/>
            <a:ext cx="5166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 xml:space="preserve">▸  </a:t>
            </a:r>
            <a:r>
              <a:rPr b="0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Outlier detection — IQR method &amp; visual boxplots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/>
          <p:nvPr/>
        </p:nvSpPr>
        <p:spPr>
          <a:xfrm>
            <a:off x="6492240" y="5724144"/>
            <a:ext cx="5166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 xml:space="preserve">▸  </a:t>
            </a:r>
            <a:r>
              <a:rPr b="0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engineering: lag variables, rolling 7/30-day averages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6492240" y="6144768"/>
            <a:ext cx="5166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 xml:space="preserve">▸  </a:t>
            </a:r>
            <a:r>
              <a:rPr b="0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Train/test split visualization (80/20 walk-forward splits)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D4E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4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4"/>
          <p:cNvSpPr/>
          <p:nvPr/>
        </p:nvSpPr>
        <p:spPr>
          <a:xfrm>
            <a:off x="0" y="658368"/>
            <a:ext cx="12161520" cy="50292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4"/>
          <p:cNvSpPr/>
          <p:nvPr/>
        </p:nvSpPr>
        <p:spPr>
          <a:xfrm>
            <a:off x="164592" y="73152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6858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 &amp; Technology Stack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End-to-end modular design — confirmed tools &amp; frameworks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11064240" y="2011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B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7BA8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320040" y="868680"/>
            <a:ext cx="5394960" cy="1325880"/>
          </a:xfrm>
          <a:prstGeom prst="rect">
            <a:avLst/>
          </a:prstGeom>
          <a:solidFill>
            <a:srgbClr val="2E4A7A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4"/>
          <p:cNvSpPr/>
          <p:nvPr/>
        </p:nvSpPr>
        <p:spPr>
          <a:xfrm>
            <a:off x="457200" y="960120"/>
            <a:ext cx="5166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INGESTION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457200" y="1371600"/>
            <a:ext cx="5166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Orders • Shipments • Inventory • Kaggle APIs • CSV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5943600" y="868680"/>
            <a:ext cx="5897880" cy="1325880"/>
          </a:xfrm>
          <a:prstGeom prst="rect">
            <a:avLst/>
          </a:prstGeom>
          <a:solidFill>
            <a:srgbClr val="2E4A7A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4"/>
          <p:cNvSpPr/>
          <p:nvPr/>
        </p:nvSpPr>
        <p:spPr>
          <a:xfrm>
            <a:off x="6080760" y="960120"/>
            <a:ext cx="5669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6080760" y="1371600"/>
            <a:ext cx="56692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PostgreSQL • Redis Cache • S3 Bucket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5669280" y="219456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320040" y="2377440"/>
            <a:ext cx="5394960" cy="1325880"/>
          </a:xfrm>
          <a:prstGeom prst="rect">
            <a:avLst/>
          </a:prstGeom>
          <a:solidFill>
            <a:srgbClr val="1E2D4E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4"/>
          <p:cNvSpPr/>
          <p:nvPr/>
        </p:nvSpPr>
        <p:spPr>
          <a:xfrm>
            <a:off x="457200" y="2468880"/>
            <a:ext cx="5166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ENGINE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457200" y="2880360"/>
            <a:ext cx="5166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ARIMA (Statsmodels) • LSTM (TensorFlow/Keras) • XGBoost • Isolation Forest • MLflow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5943600" y="2377440"/>
            <a:ext cx="5897880" cy="1325880"/>
          </a:xfrm>
          <a:prstGeom prst="rect">
            <a:avLst/>
          </a:prstGeom>
          <a:solidFill>
            <a:srgbClr val="0D7A70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4"/>
          <p:cNvSpPr/>
          <p:nvPr/>
        </p:nvSpPr>
        <p:spPr>
          <a:xfrm>
            <a:off x="6080760" y="2468880"/>
            <a:ext cx="5669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 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6080760" y="2880360"/>
            <a:ext cx="56692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REST APIs • WebSocket • Auth • Model Serving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5669280" y="370332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320040" y="3886200"/>
            <a:ext cx="5394960" cy="1325880"/>
          </a:xfrm>
          <a:prstGeom prst="rect">
            <a:avLst/>
          </a:prstGeom>
          <a:solidFill>
            <a:srgbClr val="1E2D4E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4"/>
          <p:cNvSpPr/>
          <p:nvPr/>
        </p:nvSpPr>
        <p:spPr>
          <a:xfrm>
            <a:off x="457200" y="3977640"/>
            <a:ext cx="5166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457200" y="4389120"/>
            <a:ext cx="5166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Anthropic Claude API • LangChain • Prompt Engineering • RAG Pipeline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5943600" y="3886200"/>
            <a:ext cx="5897880" cy="132588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4"/>
          <p:cNvSpPr/>
          <p:nvPr/>
        </p:nvSpPr>
        <p:spPr>
          <a:xfrm>
            <a:off x="6080760" y="3977640"/>
            <a:ext cx="5669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6080760" y="4389120"/>
            <a:ext cx="56692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React 18 • TypeScript • Recharts • D3.js • Tailwind CSS • AI Chat Widget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320040" y="5413248"/>
            <a:ext cx="11475720" cy="120700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502920" y="54772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☁  Cloud Deployment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411480" y="5833872"/>
            <a:ext cx="2057400" cy="621792"/>
          </a:xfrm>
          <a:prstGeom prst="roundRect">
            <a:avLst>
              <a:gd fmla="val 8824" name="adj"/>
            </a:avLst>
          </a:prstGeom>
          <a:solidFill>
            <a:srgbClr val="2E4A7A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4"/>
          <p:cNvSpPr/>
          <p:nvPr/>
        </p:nvSpPr>
        <p:spPr>
          <a:xfrm>
            <a:off x="411480" y="5833872"/>
            <a:ext cx="2057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Containers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2651760" y="5833872"/>
            <a:ext cx="2057400" cy="621792"/>
          </a:xfrm>
          <a:prstGeom prst="roundRect">
            <a:avLst>
              <a:gd fmla="val 8824" name="adj"/>
            </a:avLst>
          </a:prstGeom>
          <a:solidFill>
            <a:srgbClr val="2E4A7A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4"/>
          <p:cNvSpPr/>
          <p:nvPr/>
        </p:nvSpPr>
        <p:spPr>
          <a:xfrm>
            <a:off x="2651760" y="5833872"/>
            <a:ext cx="2057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Actions CI/CD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4"/>
          <p:cNvSpPr/>
          <p:nvPr/>
        </p:nvSpPr>
        <p:spPr>
          <a:xfrm>
            <a:off x="4892040" y="5833872"/>
            <a:ext cx="2057400" cy="621792"/>
          </a:xfrm>
          <a:prstGeom prst="roundRect">
            <a:avLst>
              <a:gd fmla="val 8824" name="adj"/>
            </a:avLst>
          </a:prstGeom>
          <a:solidFill>
            <a:srgbClr val="2E4A7A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4"/>
          <p:cNvSpPr/>
          <p:nvPr/>
        </p:nvSpPr>
        <p:spPr>
          <a:xfrm>
            <a:off x="4892040" y="5833872"/>
            <a:ext cx="2057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EC2 / GCP Cloud Run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4"/>
          <p:cNvSpPr/>
          <p:nvPr/>
        </p:nvSpPr>
        <p:spPr>
          <a:xfrm>
            <a:off x="7132320" y="5833872"/>
            <a:ext cx="2057400" cy="621792"/>
          </a:xfrm>
          <a:prstGeom prst="roundRect">
            <a:avLst>
              <a:gd fmla="val 8824" name="adj"/>
            </a:avLst>
          </a:prstGeom>
          <a:solidFill>
            <a:srgbClr val="2E4A7A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4"/>
          <p:cNvSpPr/>
          <p:nvPr/>
        </p:nvSpPr>
        <p:spPr>
          <a:xfrm>
            <a:off x="7132320" y="5833872"/>
            <a:ext cx="2057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Nginx Reverse Proxy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4"/>
          <p:cNvSpPr/>
          <p:nvPr/>
        </p:nvSpPr>
        <p:spPr>
          <a:xfrm>
            <a:off x="9372600" y="5833872"/>
            <a:ext cx="2057400" cy="621792"/>
          </a:xfrm>
          <a:prstGeom prst="roundRect">
            <a:avLst>
              <a:gd fmla="val 8824" name="adj"/>
            </a:avLst>
          </a:prstGeom>
          <a:solidFill>
            <a:srgbClr val="2E4A7A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4"/>
          <p:cNvSpPr/>
          <p:nvPr/>
        </p:nvSpPr>
        <p:spPr>
          <a:xfrm>
            <a:off x="9372600" y="5833872"/>
            <a:ext cx="2057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Jupyter Notebooks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D4E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5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5"/>
          <p:cNvSpPr/>
          <p:nvPr/>
        </p:nvSpPr>
        <p:spPr>
          <a:xfrm>
            <a:off x="8686800" y="-1097280"/>
            <a:ext cx="5029200" cy="5029200"/>
          </a:xfrm>
          <a:prstGeom prst="ellipse">
            <a:avLst/>
          </a:prstGeom>
          <a:solidFill>
            <a:srgbClr val="1E2D4E">
              <a:alpha val="60000"/>
            </a:srgbClr>
          </a:solidFill>
          <a:ln cap="flat" cmpd="sng" w="12700">
            <a:solidFill>
              <a:srgbClr val="1E2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5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1E2D4E">
              <a:alpha val="25098"/>
            </a:srgbClr>
          </a:solidFill>
          <a:ln cap="flat" cmpd="sng" w="12700">
            <a:solidFill>
              <a:srgbClr val="1E2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5"/>
          <p:cNvSpPr/>
          <p:nvPr/>
        </p:nvSpPr>
        <p:spPr>
          <a:xfrm>
            <a:off x="640080" y="9144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libri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5"/>
          <p:cNvSpPr/>
          <p:nvPr/>
        </p:nvSpPr>
        <p:spPr>
          <a:xfrm>
            <a:off x="640080" y="19202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Questions &amp; Discussion Welcome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5"/>
          <p:cNvSpPr/>
          <p:nvPr/>
        </p:nvSpPr>
        <p:spPr>
          <a:xfrm>
            <a:off x="617230" y="2670060"/>
            <a:ext cx="7772400" cy="228600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E2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5"/>
          <p:cNvSpPr/>
          <p:nvPr/>
        </p:nvSpPr>
        <p:spPr>
          <a:xfrm>
            <a:off x="937268" y="2670062"/>
            <a:ext cx="713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B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First Review 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5"/>
          <p:cNvSpPr/>
          <p:nvPr/>
        </p:nvSpPr>
        <p:spPr>
          <a:xfrm>
            <a:off x="868680" y="3127248"/>
            <a:ext cx="7132320" cy="27432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 xml:space="preserve">✓  </a:t>
            </a:r>
            <a:r>
              <a:rPr b="0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 review across 7 ABDC/Scopus-indexed journals — research gap identified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5"/>
          <p:cNvSpPr/>
          <p:nvPr/>
        </p:nvSpPr>
        <p:spPr>
          <a:xfrm>
            <a:off x="868680" y="344728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 xml:space="preserve">✓  </a:t>
            </a:r>
            <a:r>
              <a:rPr b="0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Conceptual framework: Data → ML → LLM → Dashboard architecture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5"/>
          <p:cNvSpPr/>
          <p:nvPr/>
        </p:nvSpPr>
        <p:spPr>
          <a:xfrm>
            <a:off x="868680" y="376732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 xml:space="preserve">✓  </a:t>
            </a:r>
            <a:r>
              <a:rPr b="0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design: Secondary data, 130,000+ records, train-test split defined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868680" y="408736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 xml:space="preserve">✓  </a:t>
            </a:r>
            <a:r>
              <a:rPr b="0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 underway: 40% complete — demand patterns, seasonality &amp; anomalies found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868680" y="440740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 xml:space="preserve">✓  </a:t>
            </a:r>
            <a:r>
              <a:rPr b="0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Tools confirmed: Python, TensorFlow, XGBoost, Claude API, React 18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5"/>
          <p:cNvSpPr/>
          <p:nvPr/>
        </p:nvSpPr>
        <p:spPr>
          <a:xfrm>
            <a:off x="868680" y="472744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D4E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1E2D4E"/>
                </a:solidFill>
                <a:latin typeface="Calibri"/>
                <a:ea typeface="Calibri"/>
                <a:cs typeface="Calibri"/>
                <a:sym typeface="Calibri"/>
              </a:rPr>
              <a:t xml:space="preserve">✓  </a:t>
            </a:r>
            <a:r>
              <a:rPr b="0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Timeline: On track — First Review milestone delivered as planned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640080" y="6309360"/>
            <a:ext cx="10972800" cy="347472"/>
          </a:xfrm>
          <a:prstGeom prst="rect">
            <a:avLst/>
          </a:prstGeom>
          <a:solidFill>
            <a:srgbClr val="4A7F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Shilpi Sen  </a:t>
            </a:r>
            <a:r>
              <a:rPr b="0" i="0" lang="en-US" sz="900" u="none" cap="none" strike="noStrike">
                <a:solidFill>
                  <a:srgbClr val="4A7FB5"/>
                </a:solidFill>
                <a:latin typeface="Calibri"/>
                <a:ea typeface="Calibri"/>
                <a:cs typeface="Calibri"/>
                <a:sym typeface="Calibri"/>
              </a:rPr>
              <a:t>|  24EMDT1277  |  M.Sc. Data Science  |  Guide: Dr. Ramesh Kumar D  |  First Review — April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