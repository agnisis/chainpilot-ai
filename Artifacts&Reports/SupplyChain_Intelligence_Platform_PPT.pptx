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274320"/>
            <a:ext cx="1280160" cy="1280160"/>
          </a:xfrm>
          <a:prstGeom prst="ellipse">
            <a:avLst/>
          </a:prstGeom>
          <a:solidFill>
            <a:srgbClr val="1565C0">
              <a:alpha val="30000"/>
            </a:srgbClr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640080"/>
            <a:ext cx="457200" cy="457200"/>
          </a:xfrm>
          <a:prstGeom prst="ellipse">
            <a:avLst/>
          </a:prstGeom>
          <a:solidFill>
            <a:srgbClr val="00BCD4">
              <a:alpha val="6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1920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CD4"/>
                </a:solidFill>
              </a:rPr>
              <a:t>ZEROTH REVIEW — PROJECT WORK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28600" y="23317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C8E8"/>
                </a:solidFill>
              </a:rPr>
              <a:t>Reg. No: 24EMDT1277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AAC8E8"/>
                </a:solidFill>
              </a:rPr>
              <a:t>Shilpi Sen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28600" y="26334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C8E8"/>
                </a:solidFill>
              </a:rPr>
              <a:t>Department of MSc Data Science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28600" y="293522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C8E8"/>
                </a:solidFill>
              </a:rPr>
              <a:t>Guide: Dr. Ramesh Kumar 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749040" y="457200"/>
            <a:ext cx="512064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64008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BCD4"/>
                </a:solidFill>
              </a:rPr>
              <a:t>AI-POWERED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657600" y="123444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SUPPLY CHAIN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657600" y="182880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AC8E8"/>
                </a:solidFill>
              </a:rPr>
              <a:t>INTELLIGENCE PLATFORM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0" y="2606040"/>
            <a:ext cx="5212080" cy="27432"/>
          </a:xfrm>
          <a:prstGeom prst="rect">
            <a:avLst/>
          </a:prstGeom>
          <a:solidFill>
            <a:srgbClr val="1565C0">
              <a:alpha val="4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0" y="278892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ADC8"/>
                </a:solidFill>
              </a:rPr>
              <a:t>Leveraging Machine Learning &amp; Large Language Models</a:t>
            </a:r>
            <a:endParaRPr lang="en-US" sz="1250" dirty="0"/>
          </a:p>
          <a:p>
            <a:pPr indent="0" marL="0">
              <a:buNone/>
            </a:pPr>
            <a:r>
              <a:rPr lang="en-US" sz="1250" i="1" dirty="0">
                <a:solidFill>
                  <a:srgbClr val="8BADC8"/>
                </a:solidFill>
              </a:rPr>
              <a:t>to Predict, Optimize &amp; Intelligently Manage Supply Chains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657600" y="3931920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1A3A5C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0" y="39319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CD4"/>
                </a:solidFill>
              </a:rPr>
              <a:t>ML Forecasting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0" y="3931920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1A4A3A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0" y="39319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CD4"/>
                </a:solidFill>
              </a:rPr>
              <a:t>LLM Assistant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15200" y="3931920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3A2A12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0" y="39319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CD4"/>
                </a:solidFill>
              </a:rPr>
              <a:t>Real-Time Dashboard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0" y="47548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A8A"/>
                </a:solidFill>
              </a:rPr>
              <a:t>Slide 1 of 10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PROBLEM STATEMENT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0BCD4"/>
                </a:solidFill>
              </a:rPr>
              <a:t>02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C3E50"/>
                </a:solidFill>
              </a:rPr>
              <a:t>Modern supply chains are complex, fragile, and data-intensive — yet most organizations still rely on outdated, manual processes that fail to anticipate disruptions.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41148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828800"/>
            <a:ext cx="91440" cy="1234440"/>
          </a:xfrm>
          <a:prstGeom prst="rect">
            <a:avLst/>
          </a:prstGeom>
          <a:solidFill>
            <a:srgbClr val="E53935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96596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0120" y="19202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</a:rPr>
              <a:t>No Predictive Visibility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30352" y="230428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Businesses react to disruptions after they happen — stockouts, delays, and demand spikes cause millions in losses.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754880" y="1828800"/>
            <a:ext cx="41148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1828800"/>
            <a:ext cx="91440" cy="1234440"/>
          </a:xfrm>
          <a:prstGeom prst="rect">
            <a:avLst/>
          </a:prstGeom>
          <a:solidFill>
            <a:srgbClr val="1565C0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196596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49240" y="19202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</a:rPr>
              <a:t>Data Silos &amp; Fragmentation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4919472" y="230428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Orders, shipments, and inventory exist in separate systems with no unified intelligence layer for analysis.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365760" y="3246120"/>
            <a:ext cx="41148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65760" y="3246120"/>
            <a:ext cx="91440" cy="1234440"/>
          </a:xfrm>
          <a:prstGeom prst="rect">
            <a:avLst/>
          </a:prstGeom>
          <a:solidFill>
            <a:srgbClr val="FFB300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38328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60120" y="33375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</a:rPr>
              <a:t>Manual Decision Making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530352" y="372160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Operations teams manually analyze spreadsheets and reports, making slow decisions prone to human error.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4754880" y="3246120"/>
            <a:ext cx="41148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754880" y="3246120"/>
            <a:ext cx="91440" cy="1234440"/>
          </a:xfrm>
          <a:prstGeom prst="rect">
            <a:avLst/>
          </a:prstGeom>
          <a:solidFill>
            <a:srgbClr val="00897B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338328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349240" y="33375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</a:rPr>
              <a:t>Lack of Actionable Insights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4919472" y="372160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Even when data exists, there is no AI layer to interpret it, explain root causes, or suggest optimal actions.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7315200" y="48920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Slide 2 of 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PROJECT OBJECTIVES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B300"/>
                </a:solidFill>
              </a:rPr>
              <a:t>03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ADC8"/>
                </a:solidFill>
              </a:rPr>
              <a:t>What this project aims to achieve: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4160520" cy="1078992"/>
          </a:xfrm>
          <a:prstGeom prst="rect">
            <a:avLst/>
          </a:prstGeom>
          <a:solidFill>
            <a:srgbClr val="1320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17320"/>
            <a:ext cx="502920" cy="1078992"/>
          </a:xfrm>
          <a:prstGeom prst="rect">
            <a:avLst/>
          </a:prstGeom>
          <a:solidFill>
            <a:srgbClr val="00BCD4">
              <a:alpha val="8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417320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86968" y="15087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CD4"/>
                </a:solidFill>
              </a:rPr>
              <a:t>Unified Data Ingestion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86968" y="182880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DC8"/>
                </a:solidFill>
              </a:rPr>
              <a:t>Ingest and unify supply chain data — orders, shipments, and inventory — from multiple sources into a centralized intelligent pipeline.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1417320"/>
            <a:ext cx="4160520" cy="1078992"/>
          </a:xfrm>
          <a:prstGeom prst="rect">
            <a:avLst/>
          </a:prstGeom>
          <a:solidFill>
            <a:srgbClr val="1320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417320"/>
            <a:ext cx="502920" cy="1078992"/>
          </a:xfrm>
          <a:prstGeom prst="rect">
            <a:avLst/>
          </a:prstGeom>
          <a:solidFill>
            <a:srgbClr val="FFB300">
              <a:alpha val="8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417320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21808" y="15087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300"/>
                </a:solidFill>
              </a:rPr>
              <a:t>ML-Based Demand Forecasting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21808" y="182880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DC8"/>
                </a:solidFill>
              </a:rPr>
              <a:t>Build machine learning models (ARIMA, LSTM, XGBoost) to predict future demand, lead times, and inventory requirements accurately.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2606040"/>
            <a:ext cx="4160520" cy="1078992"/>
          </a:xfrm>
          <a:prstGeom prst="rect">
            <a:avLst/>
          </a:prstGeom>
          <a:solidFill>
            <a:srgbClr val="1320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606040"/>
            <a:ext cx="502920" cy="1078992"/>
          </a:xfrm>
          <a:prstGeom prst="rect">
            <a:avLst/>
          </a:prstGeom>
          <a:solidFill>
            <a:srgbClr val="7C4DFF">
              <a:alpha val="8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2606040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86968" y="26974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4DFF"/>
                </a:solidFill>
              </a:rPr>
              <a:t>Real-Time Interactive Dashboard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6968" y="301752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DC8"/>
                </a:solidFill>
              </a:rPr>
              <a:t>Develop a React-based dashboard with live charts, KPI cards, and visual analytics for supply chain managers to monitor operations.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2606040"/>
            <a:ext cx="4160520" cy="1078992"/>
          </a:xfrm>
          <a:prstGeom prst="rect">
            <a:avLst/>
          </a:prstGeom>
          <a:solidFill>
            <a:srgbClr val="1320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606040"/>
            <a:ext cx="502920" cy="1078992"/>
          </a:xfrm>
          <a:prstGeom prst="rect">
            <a:avLst/>
          </a:prstGeom>
          <a:solidFill>
            <a:srgbClr val="00897B">
              <a:alpha val="8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2606040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321808" y="26974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</a:rPr>
              <a:t>LLM-Powered AI Assistant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21808" y="301752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DC8"/>
                </a:solidFill>
              </a:rPr>
              <a:t>Integrate a Large Language Model (Claude/GPT) to explain predictions in plain language and suggest data-driven operational decisions.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" y="3794760"/>
            <a:ext cx="4160520" cy="1078992"/>
          </a:xfrm>
          <a:prstGeom prst="rect">
            <a:avLst/>
          </a:prstGeom>
          <a:solidFill>
            <a:srgbClr val="1320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3794760"/>
            <a:ext cx="502920" cy="1078992"/>
          </a:xfrm>
          <a:prstGeom prst="rect">
            <a:avLst/>
          </a:prstGeom>
          <a:solidFill>
            <a:srgbClr val="E53935">
              <a:alpha val="8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320040" y="3794760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86968" y="388620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935"/>
                </a:solidFill>
              </a:rPr>
              <a:t>Anomaly &amp; Risk Detection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86968" y="420624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DC8"/>
                </a:solidFill>
              </a:rPr>
              <a:t>Detect supply chain anomalies — unexpected demand spikes, shipment delays, or inventory shortages — and trigger early-warning alerts.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3794760"/>
            <a:ext cx="4160520" cy="1078992"/>
          </a:xfrm>
          <a:prstGeom prst="rect">
            <a:avLst/>
          </a:prstGeom>
          <a:solidFill>
            <a:srgbClr val="1320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3794760"/>
            <a:ext cx="502920" cy="1078992"/>
          </a:xfrm>
          <a:prstGeom prst="rect">
            <a:avLst/>
          </a:prstGeom>
          <a:solidFill>
            <a:srgbClr val="1565C0">
              <a:alpha val="85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754880" y="3794760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06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321808" y="388620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</a:rPr>
              <a:t>Scalable Cloud Architecture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321808" y="420624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DC8"/>
                </a:solidFill>
              </a:rPr>
              <a:t>Design a modular, API-driven architecture deployable on cloud infrastructure with scalability for enterprise-level supply chains.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315200" y="48920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A8A"/>
                </a:solidFill>
              </a:rPr>
              <a:t>Slide 3 of 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SYSTEM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7C4DFF"/>
                </a:solidFill>
              </a:rPr>
              <a:t>04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777240"/>
          </a:xfrm>
          <a:prstGeom prst="rect">
            <a:avLst/>
          </a:prstGeom>
          <a:solidFill>
            <a:srgbClr val="1565C0">
              <a:alpha val="9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0058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 LAYER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566160" y="10058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AF0FA"/>
                </a:solidFill>
              </a:rPr>
              <a:t>Orders • Shipments • Inventory • External APIs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783080"/>
            <a:ext cx="54864" cy="25603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0" name="Text 8"/>
          <p:cNvSpPr/>
          <p:nvPr/>
        </p:nvSpPr>
        <p:spPr>
          <a:xfrm>
            <a:off x="4023360" y="192024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▼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965960"/>
            <a:ext cx="8229600" cy="777240"/>
          </a:xfrm>
          <a:prstGeom prst="rect">
            <a:avLst/>
          </a:prstGeom>
          <a:solidFill>
            <a:srgbClr val="00897B">
              <a:alpha val="9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19659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ML ENGINE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66160" y="196596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AF0FA"/>
                </a:solidFill>
              </a:rPr>
              <a:t>ARIMA • LSTM • XGBoost • Anomaly Detection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7680" y="2743200"/>
            <a:ext cx="54864" cy="25603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5" name="Text 13"/>
          <p:cNvSpPr/>
          <p:nvPr/>
        </p:nvSpPr>
        <p:spPr>
          <a:xfrm>
            <a:off x="4023360" y="288036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▼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8229600" cy="777240"/>
          </a:xfrm>
          <a:prstGeom prst="rect">
            <a:avLst/>
          </a:prstGeom>
          <a:solidFill>
            <a:srgbClr val="7C4DFF">
              <a:alpha val="9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29260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ASSISTANT (LLM)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66160" y="29260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AF0FA"/>
                </a:solidFill>
              </a:rPr>
              <a:t>Claude / GPT-4 • Prompt Engineering • RAG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97680" y="3703320"/>
            <a:ext cx="54864" cy="25603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0" name="Text 18"/>
          <p:cNvSpPr/>
          <p:nvPr/>
        </p:nvSpPr>
        <p:spPr>
          <a:xfrm>
            <a:off x="4023360" y="384048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▼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886200"/>
            <a:ext cx="8229600" cy="777240"/>
          </a:xfrm>
          <a:prstGeom prst="rect">
            <a:avLst/>
          </a:prstGeom>
          <a:solidFill>
            <a:srgbClr val="FFB300">
              <a:alpha val="9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" y="38862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FRONTEND DASHBOARD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66160" y="38862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AF0FA"/>
                </a:solidFill>
              </a:rPr>
              <a:t>React • Recharts • Real-Time WebSocket Feed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0" y="48920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Slide 4 of 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METHODOLOGY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0BCD4"/>
                </a:solidFill>
              </a:rPr>
              <a:t>05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8412480" cy="713232"/>
          </a:xfrm>
          <a:prstGeom prst="rect">
            <a:avLst/>
          </a:prstGeom>
          <a:solidFill>
            <a:srgbClr val="1320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1097280" cy="713232"/>
          </a:xfrm>
          <a:prstGeom prst="rect">
            <a:avLst/>
          </a:prstGeom>
          <a:solidFill>
            <a:srgbClr val="1565C0">
              <a:alpha val="9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005840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Phase 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600200" y="10698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</a:rPr>
              <a:t>Data Collection &amp; Preprocessing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00200" y="1353312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DC8"/>
                </a:solidFill>
              </a:rPr>
              <a:t>Gather historical supply chain data. Clean, normalize, and engineer features: lag variables, rolling averages, seasonal indicators.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810512"/>
            <a:ext cx="8412480" cy="713232"/>
          </a:xfrm>
          <a:prstGeom prst="rect">
            <a:avLst/>
          </a:prstGeom>
          <a:solidFill>
            <a:srgbClr val="1320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810512"/>
            <a:ext cx="1097280" cy="713232"/>
          </a:xfrm>
          <a:prstGeom prst="rect">
            <a:avLst/>
          </a:prstGeom>
          <a:solidFill>
            <a:srgbClr val="00897B">
              <a:alpha val="9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1810512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Phase 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600200" y="1874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</a:rPr>
              <a:t>Exploratory Data Analysis (EDA)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00200" y="2157984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DC8"/>
                </a:solidFill>
              </a:rPr>
              <a:t>Analyze demand patterns, seasonality, and correlations. Visualize trends across product categories, regions, and time periods.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615184"/>
            <a:ext cx="8412480" cy="713232"/>
          </a:xfrm>
          <a:prstGeom prst="rect">
            <a:avLst/>
          </a:prstGeom>
          <a:solidFill>
            <a:srgbClr val="1320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615184"/>
            <a:ext cx="1097280" cy="713232"/>
          </a:xfrm>
          <a:prstGeom prst="rect">
            <a:avLst/>
          </a:prstGeom>
          <a:solidFill>
            <a:srgbClr val="7C4DFF">
              <a:alpha val="9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2615184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Phase 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600200" y="26791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4DFF"/>
                </a:solidFill>
              </a:rPr>
              <a:t>Model Development &amp; Training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00200" y="2962656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DC8"/>
                </a:solidFill>
              </a:rPr>
              <a:t>Train ARIMA for statistical forecasting, LSTM for sequential patterns, XGBoost for inventory optimization. Evaluate with RMSE, MAPE.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419856"/>
            <a:ext cx="8412480" cy="713232"/>
          </a:xfrm>
          <a:prstGeom prst="rect">
            <a:avLst/>
          </a:prstGeom>
          <a:solidFill>
            <a:srgbClr val="1320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419856"/>
            <a:ext cx="1097280" cy="713232"/>
          </a:xfrm>
          <a:prstGeom prst="rect">
            <a:avLst/>
          </a:prstGeom>
          <a:solidFill>
            <a:srgbClr val="FFB300">
              <a:alpha val="9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3419856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Phase 4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600200" y="348386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300"/>
                </a:solidFill>
              </a:rPr>
              <a:t>LLM Integration &amp; Prompt Engineering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600200" y="3767328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DC8"/>
                </a:solidFill>
              </a:rPr>
              <a:t>Connect trained models to Claude/GPT API. Design prompts that convert ML outputs into human-readable business recommendations.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4224528"/>
            <a:ext cx="8412480" cy="713232"/>
          </a:xfrm>
          <a:prstGeom prst="rect">
            <a:avLst/>
          </a:prstGeom>
          <a:solidFill>
            <a:srgbClr val="1320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4224528"/>
            <a:ext cx="1097280" cy="713232"/>
          </a:xfrm>
          <a:prstGeom prst="rect">
            <a:avLst/>
          </a:prstGeom>
          <a:solidFill>
            <a:srgbClr val="00BCD4">
              <a:alpha val="95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4224528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Phase 5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600200" y="42885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CD4"/>
                </a:solidFill>
              </a:rPr>
              <a:t>Dashboard Development (React)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600200" y="457200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DC8"/>
                </a:solidFill>
              </a:rPr>
              <a:t>Build interactive frontend with real-time charts (Recharts/D3), KPI trackers, alert panels, and the embedded AI assistant chat widget.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315200" y="48920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A8A"/>
                </a:solidFill>
              </a:rPr>
              <a:t>Slide 5 of 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ML MODELS &amp; ALGORITHMS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0897B"/>
                </a:solidFill>
              </a:rPr>
              <a:t>06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4160520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4241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ARIMA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788920" y="107899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MAPE &lt; 8%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5361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</a:rPr>
              <a:t>AutoRegressive Integrated Moving Average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184708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Time-series forecasting of demand &amp; sales trends over weeks/months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05840"/>
            <a:ext cx="4160520" cy="457200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104241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LSTM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223760" y="107899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RMSE Optimized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92040" y="15361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4DFF"/>
                </a:solidFill>
              </a:rPr>
              <a:t>Long Short-Term Memory Neural Network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92040" y="184708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Captures long-range sequential dependencies in multi-step supply data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2926080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926080"/>
            <a:ext cx="4160520" cy="4572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96265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XGBoost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2788920" y="299923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F1 &gt; 0.92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34564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897B"/>
                </a:solidFill>
              </a:rPr>
              <a:t>Extreme Gradient Boosting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376732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Predicts reorder points, safety stock levels, supplier lead times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2926080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926080"/>
            <a:ext cx="4160520" cy="45720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296265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Isolation Forest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223760" y="299923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Recall &gt; 90%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92040" y="34564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53935"/>
                </a:solidFill>
              </a:rPr>
              <a:t>Anomaly Detection Algorithm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92040" y="376732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Detects outliers in shipment times, demand spikes, inventory drops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315200" y="48920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Slide 6 of 10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TECHNOLOGY STACK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B300"/>
                </a:solidFill>
              </a:rPr>
              <a:t>07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8412480" cy="713232"/>
          </a:xfrm>
          <a:prstGeom prst="rect">
            <a:avLst/>
          </a:prstGeom>
          <a:solidFill>
            <a:srgbClr val="1320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91440" cy="71323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0607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</a:rPr>
              <a:t>Data &amp; Backend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35331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DC8"/>
                </a:solidFill>
              </a:rPr>
              <a:t>Python 3.11 • Pandas • NumPy • FastAPI • PostgreSQL • Redis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810512"/>
            <a:ext cx="8412480" cy="713232"/>
          </a:xfrm>
          <a:prstGeom prst="rect">
            <a:avLst/>
          </a:prstGeom>
          <a:solidFill>
            <a:srgbClr val="1320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810512"/>
            <a:ext cx="91440" cy="713232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8653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</a:rPr>
              <a:t>Machine Learning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1579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DC8"/>
                </a:solidFill>
              </a:rPr>
              <a:t>Scikit-learn • TensorFlow/Keras • XGBoost • Statsmodels • MLflow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615184"/>
            <a:ext cx="8412480" cy="713232"/>
          </a:xfrm>
          <a:prstGeom prst="rect">
            <a:avLst/>
          </a:prstGeom>
          <a:solidFill>
            <a:srgbClr val="1320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615184"/>
            <a:ext cx="91440" cy="713232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6700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4DFF"/>
                </a:solidFill>
              </a:rPr>
              <a:t>AI / LLM Layer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296265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DC8"/>
                </a:solidFill>
              </a:rPr>
              <a:t>Anthropic Claude API • OpenAI GPT-4 • LangChain • Prompt Engineering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419856"/>
            <a:ext cx="8412480" cy="713232"/>
          </a:xfrm>
          <a:prstGeom prst="rect">
            <a:avLst/>
          </a:prstGeom>
          <a:solidFill>
            <a:srgbClr val="1320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419856"/>
            <a:ext cx="91440" cy="71323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474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CD4"/>
                </a:solidFill>
              </a:rPr>
              <a:t>Frontend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37673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DC8"/>
                </a:solidFill>
              </a:rPr>
              <a:t>React 18 • TypeScript • Recharts • D3.js • Tailwind CSS • WebSocket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4224528"/>
            <a:ext cx="8412480" cy="713232"/>
          </a:xfrm>
          <a:prstGeom prst="rect">
            <a:avLst/>
          </a:prstGeom>
          <a:solidFill>
            <a:srgbClr val="1320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4224528"/>
            <a:ext cx="91440" cy="713232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2793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300"/>
                </a:solidFill>
              </a:rPr>
              <a:t>DevOps &amp; Cloud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45720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DC8"/>
                </a:solidFill>
              </a:rPr>
              <a:t>Docker • GitHub Actions CI/CD • AWS / GCP • Nginx • Jupyter Notebooks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0" y="48920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A8A"/>
                </a:solidFill>
              </a:rPr>
              <a:t>Slide 7 of 10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PROJECT ROADMAP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0BCD4"/>
                </a:solidFill>
              </a:rPr>
              <a:t>08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8046720" cy="91440"/>
          </a:xfrm>
          <a:prstGeom prst="rect">
            <a:avLst/>
          </a:prstGeom>
          <a:solidFill>
            <a:srgbClr val="C5D5E8"/>
          </a:solidFill>
          <a:ln/>
        </p:spPr>
      </p:sp>
      <p:sp>
        <p:nvSpPr>
          <p:cNvPr id="7" name="Shape 5"/>
          <p:cNvSpPr/>
          <p:nvPr/>
        </p:nvSpPr>
        <p:spPr>
          <a:xfrm>
            <a:off x="475488" y="2487168"/>
            <a:ext cx="329184" cy="329184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-182880" y="13258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Research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&amp; Planning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1792" y="1874520"/>
            <a:ext cx="36576" cy="6126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0" name="Text 8"/>
          <p:cNvSpPr/>
          <p:nvPr/>
        </p:nvSpPr>
        <p:spPr>
          <a:xfrm>
            <a:off x="-137160" y="39319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65C0"/>
                </a:solidFill>
              </a:rPr>
              <a:t>Weeks 1–2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258568" y="2487168"/>
            <a:ext cx="329184" cy="329184"/>
          </a:xfrm>
          <a:prstGeom prst="ellipse">
            <a:avLst/>
          </a:prstGeom>
          <a:solidFill>
            <a:srgbClr val="00897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600200" y="29718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Data Prep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&amp; EDA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04872" y="2816352"/>
            <a:ext cx="36576" cy="59436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4" name="Text 12"/>
          <p:cNvSpPr/>
          <p:nvPr/>
        </p:nvSpPr>
        <p:spPr>
          <a:xfrm>
            <a:off x="1645920" y="39319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897B"/>
                </a:solidFill>
              </a:rPr>
              <a:t>Weeks 3–5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041648" y="2487168"/>
            <a:ext cx="329184" cy="329184"/>
          </a:xfrm>
          <a:prstGeom prst="ellipse">
            <a:avLst/>
          </a:prstGeom>
          <a:solidFill>
            <a:srgbClr val="7C4D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383280" y="13258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ML Model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Development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87952" y="1874520"/>
            <a:ext cx="36576" cy="612648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18" name="Text 16"/>
          <p:cNvSpPr/>
          <p:nvPr/>
        </p:nvSpPr>
        <p:spPr>
          <a:xfrm>
            <a:off x="3429000" y="39319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4DFF"/>
                </a:solidFill>
              </a:rPr>
              <a:t>Weeks 6–9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24728" y="2487168"/>
            <a:ext cx="329184" cy="329184"/>
          </a:xfrm>
          <a:prstGeom prst="ellipse">
            <a:avLst/>
          </a:prstGeom>
          <a:solidFill>
            <a:srgbClr val="FFB30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166360" y="29718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Dashboard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&amp; LLM Build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71032" y="2816352"/>
            <a:ext cx="36576" cy="59436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22" name="Text 20"/>
          <p:cNvSpPr/>
          <p:nvPr/>
        </p:nvSpPr>
        <p:spPr>
          <a:xfrm>
            <a:off x="5212080" y="39319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B300"/>
                </a:solidFill>
              </a:rPr>
              <a:t>Weeks 10–12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607808" y="2487168"/>
            <a:ext cx="329184" cy="329184"/>
          </a:xfrm>
          <a:prstGeom prst="ellipse">
            <a:avLst/>
          </a:prstGeom>
          <a:solidFill>
            <a:srgbClr val="E5393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949440" y="13258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Testing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Deployment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754112" y="1874520"/>
            <a:ext cx="36576" cy="612648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26" name="Text 24"/>
          <p:cNvSpPr/>
          <p:nvPr/>
        </p:nvSpPr>
        <p:spPr>
          <a:xfrm>
            <a:off x="6995160" y="39319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53935"/>
                </a:solidFill>
              </a:rPr>
              <a:t>Weeks 13–15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57200" y="4343400"/>
            <a:ext cx="8229600" cy="640080"/>
          </a:xfrm>
          <a:prstGeom prst="rect">
            <a:avLst/>
          </a:prstGeom>
          <a:solidFill>
            <a:srgbClr val="E8EFF7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40740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Key Deliverables: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194560" y="440740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Zeroth Review: Proposal  •  First Review: Data + EDA  •  Second Review: ML Models  •  Final Review: Complete System Demo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315200" y="48920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Slide 8 of 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EXPECTED OUTCOMES &amp; IMPACT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0897B"/>
                </a:solidFill>
              </a:rPr>
              <a:t>09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1920240" cy="1097280"/>
          </a:xfrm>
          <a:prstGeom prst="rect">
            <a:avLst/>
          </a:prstGeom>
          <a:solidFill>
            <a:srgbClr val="1320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05840"/>
            <a:ext cx="1920240" cy="7315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1556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CD4"/>
                </a:solidFill>
              </a:rPr>
              <a:t>85%+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17190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ADC8"/>
                </a:solidFill>
              </a:rPr>
              <a:t>Forecast Accuracy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60320" y="1005840"/>
            <a:ext cx="1920240" cy="1097280"/>
          </a:xfrm>
          <a:prstGeom prst="rect">
            <a:avLst/>
          </a:prstGeom>
          <a:solidFill>
            <a:srgbClr val="1320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0" y="1005840"/>
            <a:ext cx="1920240" cy="73152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111556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B300"/>
                </a:solidFill>
              </a:rPr>
              <a:t>30%↓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560320" y="17190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ADC8"/>
                </a:solidFill>
              </a:rPr>
              <a:t>Inventory Waste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1005840"/>
            <a:ext cx="1920240" cy="1097280"/>
          </a:xfrm>
          <a:prstGeom prst="rect">
            <a:avLst/>
          </a:prstGeom>
          <a:solidFill>
            <a:srgbClr val="1320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005840"/>
            <a:ext cx="1920240" cy="73152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111556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4DFF"/>
                </a:solidFill>
              </a:rPr>
              <a:t>2×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663440" y="17190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ADC8"/>
                </a:solidFill>
              </a:rPr>
              <a:t>Faster Decisions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766560" y="1005840"/>
            <a:ext cx="1920240" cy="1097280"/>
          </a:xfrm>
          <a:prstGeom prst="rect">
            <a:avLst/>
          </a:prstGeom>
          <a:solidFill>
            <a:srgbClr val="1320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66560" y="1005840"/>
            <a:ext cx="1920240" cy="73152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0" name="Text 18"/>
          <p:cNvSpPr/>
          <p:nvPr/>
        </p:nvSpPr>
        <p:spPr>
          <a:xfrm>
            <a:off x="6766560" y="111556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897B"/>
                </a:solidFill>
              </a:rPr>
              <a:t>Real-Time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766560" y="17190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ADC8"/>
                </a:solidFill>
              </a:rPr>
              <a:t>AI Insights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2423160"/>
            <a:ext cx="2651760" cy="2331720"/>
          </a:xfrm>
          <a:prstGeom prst="rect">
            <a:avLst/>
          </a:prstGeom>
          <a:solidFill>
            <a:srgbClr val="1320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2423160"/>
            <a:ext cx="2651760" cy="365760"/>
          </a:xfrm>
          <a:prstGeom prst="rect">
            <a:avLst/>
          </a:prstGeom>
          <a:solidFill>
            <a:srgbClr val="00BCD4">
              <a:alpha val="8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2423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CD4"/>
                </a:solidFill>
              </a:rPr>
              <a:t>Academically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2880360"/>
            <a:ext cx="2468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DC8"/>
                </a:solidFill>
              </a:rPr>
              <a:t>Demonstrates applied ML, deep learning, NLP, and full-stack development skills in a real-world domain — strong final-year project.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37560" y="2423160"/>
            <a:ext cx="2651760" cy="2331720"/>
          </a:xfrm>
          <a:prstGeom prst="rect">
            <a:avLst/>
          </a:prstGeom>
          <a:solidFill>
            <a:srgbClr val="1320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337560" y="2423160"/>
            <a:ext cx="2651760" cy="365760"/>
          </a:xfrm>
          <a:prstGeom prst="rect">
            <a:avLst/>
          </a:prstGeom>
          <a:solidFill>
            <a:srgbClr val="7C4DFF">
              <a:alpha val="85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3429000" y="2423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4DFF"/>
                </a:solidFill>
              </a:rPr>
              <a:t>Technically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429000" y="2880360"/>
            <a:ext cx="2468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DC8"/>
                </a:solidFill>
              </a:rPr>
              <a:t>End-to-end system combining data engineering, predictive modelling, LLM integration, and modern React frontend — portfolio-grade work.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2423160"/>
            <a:ext cx="2651760" cy="2331720"/>
          </a:xfrm>
          <a:prstGeom prst="rect">
            <a:avLst/>
          </a:prstGeom>
          <a:solidFill>
            <a:srgbClr val="1320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0" y="2423160"/>
            <a:ext cx="2651760" cy="365760"/>
          </a:xfrm>
          <a:prstGeom prst="rect">
            <a:avLst/>
          </a:prstGeom>
          <a:solidFill>
            <a:srgbClr val="FFB300">
              <a:alpha val="8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309360" y="2423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300"/>
                </a:solidFill>
              </a:rPr>
              <a:t>Practically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09360" y="2880360"/>
            <a:ext cx="2468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DC8"/>
                </a:solidFill>
              </a:rPr>
              <a:t>Applicable directly in retail, e-commerce, logistics, and manufacturing sectors — addresses a genuine multi-billion dollar industry problem.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315200" y="48920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A8A"/>
                </a:solidFill>
              </a:rPr>
              <a:t>Slide 9 of 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0" y="0"/>
            <a:ext cx="54864" cy="51435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3657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CD4"/>
                </a:solidFill>
              </a:rPr>
              <a:t>PROJECT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0BCD4"/>
                </a:solidFill>
              </a:rPr>
              <a:t>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128016" cy="128016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13533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DC8"/>
                </a:solidFill>
              </a:rPr>
              <a:t>AI + ML Supply Chain System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2057400"/>
            <a:ext cx="128016" cy="128016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" y="19933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DC8"/>
                </a:solidFill>
              </a:rPr>
              <a:t>Demand Forecasting (LSTM, ARIMA)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697480"/>
            <a:ext cx="128016" cy="128016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" y="26334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DC8"/>
                </a:solidFill>
              </a:rPr>
              <a:t>LLM-Powered AI Decisions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3337560"/>
            <a:ext cx="128016" cy="128016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" y="32735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DC8"/>
                </a:solidFill>
              </a:rPr>
              <a:t>Real-Time React Dashboard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3977640"/>
            <a:ext cx="128016" cy="128016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" y="39136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DC8"/>
                </a:solidFill>
              </a:rPr>
              <a:t>Anomaly &amp; Risk Detection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0" y="73152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THANK YOU</a:t>
            </a:r>
            <a:endParaRPr lang="en-US" sz="4400" dirty="0"/>
          </a:p>
        </p:txBody>
      </p:sp>
      <p:sp>
        <p:nvSpPr>
          <p:cNvPr id="17" name="Shape 15"/>
          <p:cNvSpPr/>
          <p:nvPr/>
        </p:nvSpPr>
        <p:spPr>
          <a:xfrm>
            <a:off x="3474720" y="1691640"/>
            <a:ext cx="5303520" cy="4572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0" y="18288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AC8E8"/>
                </a:solidFill>
              </a:rPr>
              <a:t>Questions &amp; Discussion Welcome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474720" y="237744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DC8"/>
                </a:solidFill>
              </a:rPr>
              <a:t xml:space="preserve">Reg. No: </a:t>
            </a:r>
            <a:pPr indent="0" marL="0">
              <a:buNone/>
            </a:pPr>
            <a:r>
              <a:rPr lang="en-US" sz="1200" b="1" dirty="0">
                <a:solidFill>
                  <a:srgbClr val="00BCD4"/>
                </a:solidFill>
              </a:rPr>
              <a:t>24EMDT1277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ADC8"/>
                </a:solidFill>
              </a:rPr>
              <a:t xml:space="preserve">Department: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MSc Data Science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ADC8"/>
                </a:solidFill>
              </a:rPr>
              <a:t xml:space="preserve">Guide: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Dr. Ramesh Kumar D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ADC8"/>
                </a:solidFill>
              </a:rPr>
              <a:t xml:space="preserve">Review: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B300"/>
                </a:solidFill>
              </a:rPr>
              <a:t>Zeroth Review — Project Work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74720" y="4069080"/>
            <a:ext cx="5303520" cy="594360"/>
          </a:xfrm>
          <a:prstGeom prst="rect">
            <a:avLst/>
          </a:prstGeom>
          <a:solidFill>
            <a:srgbClr val="132032"/>
          </a:solidFill>
          <a:ln/>
        </p:spPr>
      </p:sp>
      <p:sp>
        <p:nvSpPr>
          <p:cNvPr id="21" name="Text 19"/>
          <p:cNvSpPr/>
          <p:nvPr/>
        </p:nvSpPr>
        <p:spPr>
          <a:xfrm>
            <a:off x="3611880" y="414223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C8E8"/>
                </a:solidFill>
              </a:rPr>
              <a:t>AI-Powered Supply Chain Intelligence Platform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Supply Chain Intelligence Platform</dc:title>
  <dc:subject>PptxGenJS Presentation</dc:subject>
  <dc:creator>MSc Data Science</dc:creator>
  <cp:lastModifiedBy>MSc Data Science</cp:lastModifiedBy>
  <cp:revision>1</cp:revision>
  <dcterms:created xsi:type="dcterms:W3CDTF">2026-03-27T19:04:35Z</dcterms:created>
  <dcterms:modified xsi:type="dcterms:W3CDTF">2026-03-27T19:04:35Z</dcterms:modified>
</cp:coreProperties>
</file>