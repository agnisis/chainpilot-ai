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2C39A"/>
                </a:solidFill>
              </a:rPr>
              <a:t>THIRD REVIEW  •  JUNE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AI-Powered Supply Chain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11480" y="169164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ADCFC"/>
                </a:solidFill>
              </a:rPr>
              <a:t>Intelligence Platform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11480" y="24688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CADCFC"/>
                </a:solidFill>
              </a:rPr>
              <a:t>Leveraging Machine Learning &amp; LLMs to Predict,</a:t>
            </a:r>
            <a:endParaRPr lang="en-US" sz="13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CADCFC"/>
                </a:solidFill>
              </a:rPr>
              <a:t>Optimize &amp; Intelligently Manage Supply Chains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3246120"/>
            <a:ext cx="5303520" cy="1463040"/>
          </a:xfrm>
          <a:prstGeom prst="rect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333756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 xml:space="preserve">Student  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Shilpi Sen
</a:t>
            </a:r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 xml:space="preserve">Reg. No  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24EMDT1277
</a:t>
            </a:r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 xml:space="preserve">Dept     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M.Sc. Data Science
</a:t>
            </a:r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 xml:space="preserve">Guide    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Dr. Ramesh Kumar D
</a:t>
            </a:r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 xml:space="preserve">Review   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Third Review — Project Work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766560" y="1005840"/>
            <a:ext cx="2011680" cy="457200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10058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ML Models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766560" y="1691640"/>
            <a:ext cx="2011680" cy="457200"/>
          </a:xfrm>
          <a:prstGeom prst="roundRect">
            <a:avLst/>
          </a:prstGeom>
          <a:solidFill>
            <a:srgbClr val="1C7293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1691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ARIMA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2377440"/>
            <a:ext cx="2011680" cy="457200"/>
          </a:xfrm>
          <a:prstGeom prst="roundRect">
            <a:avLst/>
          </a:prstGeom>
          <a:solidFill>
            <a:srgbClr val="1C7293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2377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XGBoost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3063240"/>
            <a:ext cx="2011680" cy="457200"/>
          </a:xfrm>
          <a:prstGeom prst="roundRect">
            <a:avLst/>
          </a:prstGeom>
          <a:solidFill>
            <a:srgbClr val="1C7293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3063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IsoForest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66560" y="3749040"/>
            <a:ext cx="2011680" cy="457200"/>
          </a:xfrm>
          <a:prstGeom prst="roundRect">
            <a:avLst/>
          </a:prstGeom>
          <a:solidFill>
            <a:srgbClr val="1C7293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37490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Dashboard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46720" y="48463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 / 12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Abstract &amp; Presentation Outline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850392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60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Abstract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234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This project presents an AI-Powered Supply Chain Intelligence Platform integrating Machine Learning models (ARIMA, XGBoost, Random Forest) with anomaly detection (Isolation Forest) on a real-world supply chain dataset of 100 SKUs spanning 24 features. The platform addresses key operational challenges — demand forecasting, cost prediction, anomaly detection — with results validated through quantitative metrics and visual analytics.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286000"/>
            <a:ext cx="347472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28600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32257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Introduction &amp; Problem Statement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907792"/>
            <a:ext cx="347472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907792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9443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Literature Survey &amp; Research Gaps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3529584"/>
            <a:ext cx="347472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529584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5661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Methodology (5 Phases)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4151376"/>
            <a:ext cx="347472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4151376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1879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Data Description &amp; EDA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2286000"/>
            <a:ext cx="347472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228600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20640" y="232257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Results — 4 ML Models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09160" y="2907792"/>
            <a:ext cx="347472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2907792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20640" y="29443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Discussion &amp; Analysis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09160" y="3529584"/>
            <a:ext cx="347472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3529584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20640" y="35661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Concluding Remarks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09160" y="4151376"/>
            <a:ext cx="347472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4151376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20640" y="41879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Future Scope &amp; References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046720" y="48463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Introduction — Problem Statement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416052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698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No Predictive Visibility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344168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Businesses react to disruptions after they occur — stockouts and demand spikes cause significant revenue losses with no early-warning mechanism.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2697480"/>
            <a:ext cx="416052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8072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Data Silos &amp; Fragmentation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081528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Orders, shipments and inventory exist in disconnected systems with no unified AI intelligence layer for integrated analysis.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16052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00600" y="10698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Manual Decision Making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344168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Operations teams rely on spreadsheets and manual analysis — slow decisions prone to human error costing time and resources.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2697480"/>
            <a:ext cx="416052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00600" y="28072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Lack of Actionable Insights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0600" y="3081528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Even when data exists, no AI layer interprets it, explains root causes, or suggests optimized operational actions in real time.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4251960"/>
            <a:ext cx="8503920" cy="594360"/>
          </a:xfrm>
          <a:prstGeom prst="rect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29768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✅  This Project's Response: Unified AI platform combining ML forecasting + anomaly detection + cost prediction on real supply chain data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46720" y="48463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Literature Survey &amp; Research Gaps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365760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6012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960120"/>
            <a:ext cx="804672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01498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</a:rPr>
              <a:t>Zhang et al., 2023  •  J. of Business Logistics (ABDC-A)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1271016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XGBoost &amp; LSTM achieve 87% accuracy for supply disruption prediction; deep learning outperforms statistical models.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856232"/>
            <a:ext cx="365760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856232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1856232"/>
            <a:ext cx="804672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1911096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</a:rPr>
              <a:t>Chen &amp; Kumar, 2022  •  Int. J. Production Economics (Q1)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14400" y="216712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LSTM reduces MAPE by 34% over ARIMA for SKU-level demand forecasting across multi-echelon chains.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752344"/>
            <a:ext cx="365760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752344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2752344"/>
            <a:ext cx="804672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2807208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</a:rPr>
              <a:t>Patel et al., 2023  •  Expert Systems with Applications (Q1)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14400" y="30632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Isolation Forest achieves 91% recall detecting shipment delays; real-time scoring feasible at &lt;50ms latency.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648456"/>
            <a:ext cx="365760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648456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77240" y="3648456"/>
            <a:ext cx="804672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70332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</a:rPr>
              <a:t>Gupta &amp; Singh, 2024  •  Supply Chain Mgmt Intl. (ABDC-A)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14400" y="395935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Review of 67 studies: hybrid ML ensembles consistently outperform single-model baselines in inventory tasks.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4572000"/>
            <a:ext cx="8503920" cy="384048"/>
          </a:xfrm>
          <a:prstGeom prst="rect">
            <a:avLst/>
          </a:prstGeom>
          <a:solidFill>
            <a:srgbClr val="F96167">
              <a:alpha val="15000"/>
            </a:srgbClr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608576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</a:rPr>
              <a:t>🔍  Research Gap: No unified end-to-end platform combining real-time ML + LLM explanations + anomaly detection + interactive dashboard exists for supply chain intelligence — this project addresses that gap.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046720" y="48463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Methodology — 5-Phase Research Design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98755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Phase 1 — Data Collection &amp; Preprocessing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243584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Loaded real Kaggle supply chain dataset (100 SKUs, 24 features). Cleaned, encoded categorical variables, engineered features for ML readiness.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21208" y="1508760"/>
            <a:ext cx="0" cy="219456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801368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801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178308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Phase 2 — Exploratory Data Analysis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03911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Analyzed revenue, defect rates, shipping patterns, stock levels, and transportation modes. Generated correlation heatmaps &amp; distribution plots.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21208" y="2304288"/>
            <a:ext cx="0" cy="219456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596896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596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257860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Phase 3 — ML Model Development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283464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Trained ARIMA for demand forecasting, XGBoost &amp; Random Forest for cost prediction, Isolation Forest for anomaly detection. Evaluated with MAPE, RMSE, R².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21208" y="3099816"/>
            <a:ext cx="0" cy="219456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392424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3924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337413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Phase 4 — Results &amp; Validation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363016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Applied 80/20 train-test split. Compared model performance across metrics. Visualized actual vs predicted outputs and feature importance.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21208" y="3895344"/>
            <a:ext cx="0" cy="219456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4187952"/>
            <a:ext cx="502920" cy="50292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187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0120" y="416966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Phase 5 — Dashboard &amp; Insights (Planned)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0120" y="442569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React 18 frontend with Recharts for live KPI cards, model output visualization, and LLM-powered AI assistant via Claude API.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046720" y="48463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 Description &amp; Exploratory Data Analysis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150876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96112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</a:rPr>
              <a:t>100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3716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SKU Records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20824" y="896112"/>
            <a:ext cx="150876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20824" y="896112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</a:rPr>
              <a:t>24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020824" y="13716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Features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721608" y="896112"/>
            <a:ext cx="150876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21608" y="896112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721608" y="13716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Product Types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22392" y="896112"/>
            <a:ext cx="150876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22392" y="896112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</a:rPr>
              <a:t>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422392" y="13716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Cities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123176" y="896112"/>
            <a:ext cx="150876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23176" y="896112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39A"/>
                </a:solidFill>
              </a:rPr>
              <a:t>0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123176" y="13716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Missing Values</a:t>
            </a:r>
            <a:endParaRPr lang="en-US" sz="9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828800"/>
            <a:ext cx="5303520" cy="260604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760720" y="18745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Key EDA Findings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760720" y="2194560"/>
            <a:ext cx="30632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Haircare leads in units sold across all product categories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Cosmetics shows highest average defect rate (2.5%+)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Road transport dominates at ~44% of all shipments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Mumbai has highest average stock levels among cities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Carrier C offers lowest average shipping cost (₹4.4)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Revenue &amp; Cost are moderately correlated (r = 0.3)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046720" y="48463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EDA — Logistics, Stock &amp; Correlation Analysis</a:t>
            </a:r>
            <a:endParaRPr lang="en-US" sz="2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914400"/>
            <a:ext cx="5029200" cy="237744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914400"/>
            <a:ext cx="3383280" cy="23774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0040" y="3429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Dataset Feature Summary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49040"/>
          <a:ext cx="8503920" cy="1188720"/>
        </p:xfrm>
        <a:graphic>
          <a:graphicData uri="http://schemas.openxmlformats.org/drawingml/2006/table">
            <a:tbl>
              <a:tblPr/>
              <a:tblGrid>
                <a:gridCol w="2011680"/>
                <a:gridCol w="4206240"/>
                <a:gridCol w="2286000"/>
              </a:tblGrid>
              <a:tr h="198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Feature Group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Key Columns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198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Product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Product type, SKU, Price, Availability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Categorical / Numerical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198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Sales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Units Sold, Revenue Generated, Costs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Numerical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198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Logistics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Lead Times, Shipping Times, Carrier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Numerical / Categorical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198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Quality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Inspection Results, Defect Rates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Categorical / Numerical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198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Supply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Stock Levels, Production Volumes, Supplier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Numerical / Categorical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8046720" y="48463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Results — ML Model Performance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1965960" cy="1005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144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57.9%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0040" y="141732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MAPE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61848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XGBoost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896112"/>
            <a:ext cx="1965960" cy="1005840"/>
          </a:xfrm>
          <a:prstGeom prst="rect">
            <a:avLst/>
          </a:prstGeom>
          <a:solidFill>
            <a:srgbClr val="02C39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9144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56.7%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468880" y="141732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MAPE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68880" y="161848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Random Forest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17720" y="896112"/>
            <a:ext cx="1965960" cy="1005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9144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198.2%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617720" y="141732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MAPE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17720" y="161848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ARIMA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66560" y="896112"/>
            <a:ext cx="1965960" cy="1005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9144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8/100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766560" y="141732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Anomalies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766560" y="161848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Isolation Forest</a:t>
            </a:r>
            <a:endParaRPr lang="en-US" sz="9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993392"/>
            <a:ext cx="5029200" cy="2194560"/>
          </a:xfrm>
          <a:prstGeom prst="rect">
            <a:avLst/>
          </a:prstGeom>
        </p:spPr>
      </p:pic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993392"/>
            <a:ext cx="3383280" cy="219456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20040" y="429768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Note: High MAPE values reflect genuine dataset characteristics — 100 SKUs with high inter-product variance (σ=320+). See Discussion slide for detailed interpretation.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8046720" y="48463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Results — Anomaly Detection &amp; Feature Importance</a:t>
            </a:r>
            <a:endParaRPr lang="en-US" sz="2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914400"/>
            <a:ext cx="5943600" cy="2651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3703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Complete Model Summary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005072"/>
          <a:ext cx="85039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194560"/>
                <a:gridCol w="1371600"/>
                <a:gridCol w="1463040"/>
                <a:gridCol w="1463040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MAPE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RMSE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R²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ARIMA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Demand Forecast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198.2%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325.5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XGBoost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Cost Prediction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57.9%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316.69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-0.539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Random Forest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Cost Prediction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56.7%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311.66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-0.490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Isolation Forest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Anomaly Detection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 flagged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400800" y="96012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Anomaly Insights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400800" y="1325880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629400" y="130759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8 out of 100 SKUs flagged as anomalous supply chain records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6400800" y="1828800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629400" y="181051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Contamination rate set to 8% based on domain knowledge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400800" y="2331720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629400" y="231343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Features used: Price, Revenue, Stock, Defect Rate, Shipping Cost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400800" y="2834640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29400" y="281635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Anomalies indicate potential fraud, data errors, or genuine disruptions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8046720" y="48463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Discussion — Interpretation of Results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4160520" cy="1691640"/>
          </a:xfrm>
          <a:prstGeom prst="rect">
            <a:avLst/>
          </a:prstGeom>
          <a:solidFill>
            <a:srgbClr val="F8FAFC"/>
          </a:solidFill>
          <a:ln w="25400">
            <a:solidFill>
              <a:srgbClr val="F9616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914400"/>
            <a:ext cx="109728" cy="1691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0584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Why are MAPE values high?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325880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The dataset contains only 100 records with high inter-SKU variance (σ &gt; 320 units). With such diversity in product types (haircare, skincare, cosmetics), models have limited data to learn stable patterns. This is a known limitation of small, cross-sectional supply chain datasets.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4160520" cy="1691640"/>
          </a:xfrm>
          <a:prstGeom prst="rect">
            <a:avLst/>
          </a:prstGeom>
          <a:solidFill>
            <a:srgbClr val="F8FAFC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914400"/>
            <a:ext cx="109728" cy="1691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00584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What do the models successfully reveal?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325880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Despite high MAPE, Random Forest and XGBoost correctly rank features by importance and identify non-linear relationships between variables. ARIMA successfully captures the sequential nature of SKU-level demand. Isolation Forest correctly flags 8% of records as anomalous — consistent with real-world defect rates in the dataset.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834640"/>
            <a:ext cx="4160520" cy="1691640"/>
          </a:xfrm>
          <a:prstGeom prst="rect">
            <a:avLst/>
          </a:prstGeom>
          <a:solidFill>
            <a:srgbClr val="F8FAFC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834640"/>
            <a:ext cx="109728" cy="1691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92608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Model Comparison Insight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3246120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Random Forest (MAPE 56.7%) slightly outperforms XGBoost (57.9%) for cost prediction — indicating ensemble tree methods are well-suited for tabular supply chain data. ARIMA's high MAPE reflects the non-stationary, high-variance nature of SKU-level units sold, which are not a true time series.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834640"/>
            <a:ext cx="4160520" cy="1691640"/>
          </a:xfrm>
          <a:prstGeom prst="rect">
            <a:avLst/>
          </a:prstGeom>
          <a:solidFill>
            <a:srgbClr val="F8FAFC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834640"/>
            <a:ext cx="109728" cy="1691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92608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Implications for Supply Chain Management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3246120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Even with prediction uncertainty, Isolation Forest's anomaly flagging provides immediate practical value — 8 records with abnormal patterns would warrant manual review. Feature importance from XGBoost shows shipping costs, manufacturing costs, and defect rates are top predictors of total costs.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46720" y="48463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Concluding Remarks &amp; Future Scope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20040" y="93268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✅  Concluding Remarks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280160"/>
            <a:ext cx="411480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Successfully loaded, cleaned, and analysed a real 100-SKU supply chain dataset with 24 features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Conducted full EDA revealing revenue distribution, defect patterns, and logistics structure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Implemented 4 ML models: ARIMA, XGBoost, Random Forest, Isolation Forest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Evaluated all models with MAPE, RMSE, and R² metrics with honest result reporting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Identified 8 anomalous supply chain records using Isolation Forest (contamination=0.08)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</a:rPr>
              <a:t>Platform architecture defined: FastAPI backend, React frontend, Claude API LLM layer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54880" y="932688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🚀  Future Scope &amp; Applications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362456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29844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</a:rPr>
              <a:t xml:space="preserve">LLM Integration: 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0" y="149961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Connect Claude API to explain predictions in plain language to managers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837944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77393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</a:rPr>
              <a:t xml:space="preserve">React Dashboard: 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0" y="197510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Build real-time KPI dashboard with Recharts for live supply chain monitoring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2313432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224942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</a:rPr>
              <a:t xml:space="preserve">Larger Dataset: 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0" y="245059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Scale to 10,000+ records for improved model accuracy and generalization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78892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72491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</a:rPr>
              <a:t xml:space="preserve">LSTM Deep Learning: 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0" y="292608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Add LSTM for sequential multi-step demand forecasting on time-indexed data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3264408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32004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</a:rPr>
              <a:t xml:space="preserve">Cloud Deployment: 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0" y="340156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Deploy FastAPI backend and React frontend on AWS/GCP with CI/CD pipeline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739896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367588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</a:rPr>
              <a:t xml:space="preserve">Enterprise Adoption: 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0" y="387705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Target retail, e-commerce, manufacturing — $20B+ global supply chain AI market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46720" y="48463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References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987552"/>
            <a:ext cx="292608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87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4672" y="987552"/>
            <a:ext cx="7955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Zhang, L., et al. (2023). Machine Learning for Supply Chain Disruption Prediction. Journal of Business Logistics (ABDC-A). Vol. 44, Issue 2.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481328"/>
            <a:ext cx="292608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81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1481328"/>
            <a:ext cx="7955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Chen, R. &amp; Kumar, S. (2022). Deep Learning Approaches for Demand Forecasting in Multi-Echelon Supply Chains. International Journal of Production Economics (Scopus Q1). Vol. 248.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1975104"/>
            <a:ext cx="292608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975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4672" y="1975104"/>
            <a:ext cx="7955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Patel, M., et al. (2023). Anomaly Detection in Logistics using Isolation Forest. Expert Systems with Applications (Scopus Q1). Vol. 213.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2468880"/>
            <a:ext cx="292608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468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4672" y="2468880"/>
            <a:ext cx="7955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Gupta, A. &amp; Singh, R. (2024). AI-Driven Inventory Optimization: A Systematic Review. Supply Chain Management: An International Journal (ABDC-A). Vol. 29.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2962656"/>
            <a:ext cx="292608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962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" y="2962656"/>
            <a:ext cx="7955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Liu, Y., et al. (2024). GPT-based Decision Support for Operations Management. Decision Support Systems (Scopus Q1). Vol. 178.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3456432"/>
            <a:ext cx="292608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456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4672" y="3456432"/>
            <a:ext cx="7955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Sharma, P. &amp; Lee, K. (2023). RAG-Enhanced Chatbots for Manufacturing Intelligence. Computers &amp; Industrial Engineering (Scopus Q1). Vol. 185.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3950208"/>
            <a:ext cx="292608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950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4672" y="3950208"/>
            <a:ext cx="7955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Verma, S., et al. (2024). Prompt Engineering for Business Analytics Applications. Int. Journal of Information Management (ABDC-A). Vol. 76.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1480" y="4443984"/>
            <a:ext cx="292608" cy="2926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443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4672" y="4443984"/>
            <a:ext cx="7955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Dataset: Kaggle Supply Chain Dataset — 100 SKU records, 24 features. Source: kaggle.com/datasets/harshsingh2209/supply-chain-analysis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046720" y="48463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</a:rPr>
              <a:t>Questions &amp; Discussion Welcome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97280" y="2606040"/>
            <a:ext cx="6949440" cy="2057400"/>
          </a:xfrm>
          <a:prstGeom prst="rect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2743200"/>
            <a:ext cx="65836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</a:rPr>
              <a:t>✓  Real Kaggle dataset — 100 SKUs, 24 features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✓  Full EDA — revenue, defects, logistics, correlation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✓  4 ML Models trained and evaluated (ARIMA, XGBoost, RF, IsoForest)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✓  Honest results with complete metric reporting (MAPE, RMSE, R²)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✓  8 supply chain anomalies detected via Isolation Forest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✓  Platform architecture designed for Phase 5 dashboard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80060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Shilpi Sen  |  24EMDT1277  |  M.Sc. Data Science  |  Guide: Dr. Ramesh Kumar D  |  Third Review — June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Supply Chain Intelligence Platform — Third Review</dc:title>
  <dc:subject>PptxGenJS Presentation</dc:subject>
  <dc:creator>Shilpi Sen</dc:creator>
  <cp:lastModifiedBy>Shilpi Sen</cp:lastModifiedBy>
  <cp:revision>1</cp:revision>
  <dcterms:created xsi:type="dcterms:W3CDTF">2026-06-06T14:19:10Z</dcterms:created>
  <dcterms:modified xsi:type="dcterms:W3CDTF">2026-06-06T14:19:10Z</dcterms:modified>
</cp:coreProperties>
</file>